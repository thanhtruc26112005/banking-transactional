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40"/>
  </p:notesMasterIdLst>
  <p:sldIdLst>
    <p:sldId id="256" r:id="rId3"/>
    <p:sldId id="257" r:id="rId4"/>
    <p:sldId id="258" r:id="rId5"/>
    <p:sldId id="259" r:id="rId6"/>
    <p:sldId id="337" r:id="rId7"/>
    <p:sldId id="363" r:id="rId8"/>
    <p:sldId id="354" r:id="rId9"/>
    <p:sldId id="364" r:id="rId10"/>
    <p:sldId id="356" r:id="rId11"/>
    <p:sldId id="359" r:id="rId12"/>
    <p:sldId id="360" r:id="rId13"/>
    <p:sldId id="372" r:id="rId14"/>
    <p:sldId id="373" r:id="rId15"/>
    <p:sldId id="374" r:id="rId16"/>
    <p:sldId id="375" r:id="rId17"/>
    <p:sldId id="376" r:id="rId18"/>
    <p:sldId id="380" r:id="rId19"/>
    <p:sldId id="379" r:id="rId20"/>
    <p:sldId id="381" r:id="rId21"/>
    <p:sldId id="382" r:id="rId22"/>
    <p:sldId id="264" r:id="rId23"/>
    <p:sldId id="339" r:id="rId24"/>
    <p:sldId id="366" r:id="rId25"/>
    <p:sldId id="367" r:id="rId26"/>
    <p:sldId id="368" r:id="rId27"/>
    <p:sldId id="369" r:id="rId28"/>
    <p:sldId id="370" r:id="rId29"/>
    <p:sldId id="371" r:id="rId30"/>
    <p:sldId id="271" r:id="rId31"/>
    <p:sldId id="266" r:id="rId32"/>
    <p:sldId id="348" r:id="rId33"/>
    <p:sldId id="349" r:id="rId34"/>
    <p:sldId id="350" r:id="rId35"/>
    <p:sldId id="351" r:id="rId36"/>
    <p:sldId id="353" r:id="rId37"/>
    <p:sldId id="352" r:id="rId38"/>
    <p:sldId id="365" r:id="rId39"/>
  </p:sldIdLst>
  <p:sldSz cx="12192000" cy="6858000"/>
  <p:notesSz cx="6858000" cy="9144000"/>
  <p:embeddedFontLst>
    <p:embeddedFont>
      <p:font typeface="Comic Sans MS" panose="030F0702030302020204" pitchFamily="66" charset="0"/>
      <p:regular r:id="rId41"/>
      <p:bold r:id="rId42"/>
      <p:italic r:id="rId43"/>
      <p:boldItalic r:id="rId44"/>
    </p:embeddedFont>
    <p:embeddedFont>
      <p:font typeface="Poppins" panose="00000500000000000000" pitchFamily="2" charset="0"/>
      <p:regular r:id="rId45"/>
      <p:bold r:id="rId46"/>
      <p:italic r:id="rId47"/>
      <p:boldItalic r:id="rId48"/>
    </p:embeddedFont>
    <p:embeddedFont>
      <p:font typeface="Source Sans Pro" panose="020B050303040302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84" y="16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10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10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10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font" Target="fonts/font12.fntdata"/><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100" Type="http://customschemas.google.com/relationships/presentationmetadata" Target="metadata"/><Relationship Id="rId8" Type="http://schemas.openxmlformats.org/officeDocument/2006/relationships/slide" Target="slides/slide6.xml"/><Relationship Id="rId51" Type="http://schemas.openxmlformats.org/officeDocument/2006/relationships/font" Target="fonts/font11.fntdata"/><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0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71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55037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8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78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448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4453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86097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69652015-D6A1-10E5-B29D-F4CD4D782C5D}"/>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542AF55B-8C31-5B21-4349-78F85E3D91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48528E04-CC57-AC81-84CA-E5CD30D0FEC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D74BBB03-EE30-5F22-62BE-2F6F77FA48D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19972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472C5E56-E40F-414B-B933-4CEA1FD9B044}"/>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AEC450D7-E272-1D92-C87C-EAC6ACD1AB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18CED9E6-B916-4401-47AC-900CD926BCC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8F4CE431-6DFF-A74F-7932-EB90B248232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712141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B2CBFE5-E270-435E-F2CF-B2B9461245E3}"/>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2FF36512-4EA9-8625-CCA2-4A9949DBC2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B9990120-680D-6F10-ECAD-AD90D02125C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75223FD1-F4A3-823F-DC2E-AF835A16484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62841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1556AF7F-AD4D-F8A0-CCF2-6E33F8E00926}"/>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8D1010E5-67C3-A711-9DFC-E42D67C14C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717FC0FC-C1FA-52B7-1934-A57375FB1AE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4E8B4C73-6743-C049-24DE-93F5073B8BC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58876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9786EFEA-02F9-1248-7F8C-D6260028269A}"/>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62EA9124-9DC5-5FE7-93ED-8ED7F614D0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F2CF0995-6565-396B-20C7-9C4891EA2BA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8CE554BF-2B15-A999-6B24-C2E43E6B9A1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84292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C8396578-1D91-0E53-A31D-2C68893C2A7F}"/>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52686358-56D0-CF7D-AB01-91E99327E7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4497CAF7-BC70-DB96-A71B-D5401D96082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2F3D9C5A-CDD3-29D7-9584-17CAAB7D9B2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5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CF2B4B3-7453-5110-B0CD-878435FEFE92}"/>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D92F378B-311B-59DE-1BB0-EC9F609E25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9DB0884B-3128-A0AC-6081-D56A37AFECE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4ECAB5F2-0E2B-3E61-A8D2-5C85A49FAD3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60447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927D2AC9-3BB7-770B-6B9B-45D9F9752BC3}"/>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4779EBD9-B114-E9CE-B565-44B4C97E29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8F372A57-EFE1-249B-A562-C4A1FF6BF70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0ECEEEC9-94F3-0F25-ABB1-5860D97E1B3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02733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A589E744-ED47-5F1C-AB26-33994F0C6B59}"/>
            </a:ext>
          </a:extLst>
        </p:cNvPr>
        <p:cNvGrpSpPr/>
        <p:nvPr/>
      </p:nvGrpSpPr>
      <p:grpSpPr>
        <a:xfrm>
          <a:off x="0" y="0"/>
          <a:ext cx="0" cy="0"/>
          <a:chOff x="0" y="0"/>
          <a:chExt cx="0" cy="0"/>
        </a:xfrm>
      </p:grpSpPr>
      <p:sp>
        <p:nvSpPr>
          <p:cNvPr id="192" name="Google Shape;192;g21197e7cf6e_0_37:notes">
            <a:extLst>
              <a:ext uri="{FF2B5EF4-FFF2-40B4-BE49-F238E27FC236}">
                <a16:creationId xmlns:a16="http://schemas.microsoft.com/office/drawing/2014/main" id="{40B429DA-2D16-0785-3211-D69666FBBE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a:extLst>
              <a:ext uri="{FF2B5EF4-FFF2-40B4-BE49-F238E27FC236}">
                <a16:creationId xmlns:a16="http://schemas.microsoft.com/office/drawing/2014/main" id="{5755E4F7-3A20-7B8C-260C-BAE2E00E1E4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a:extLst>
              <a:ext uri="{FF2B5EF4-FFF2-40B4-BE49-F238E27FC236}">
                <a16:creationId xmlns:a16="http://schemas.microsoft.com/office/drawing/2014/main" id="{BD3C877B-1EC6-8825-5121-658D1F14E3F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982737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F061B7FF-ABA5-DB99-3240-85342EBCAEE6}"/>
            </a:ext>
          </a:extLst>
        </p:cNvPr>
        <p:cNvGrpSpPr/>
        <p:nvPr/>
      </p:nvGrpSpPr>
      <p:grpSpPr>
        <a:xfrm>
          <a:off x="0" y="0"/>
          <a:ext cx="0" cy="0"/>
          <a:chOff x="0" y="0"/>
          <a:chExt cx="0" cy="0"/>
        </a:xfrm>
      </p:grpSpPr>
      <p:sp>
        <p:nvSpPr>
          <p:cNvPr id="245" name="Google Shape;245;g21197e7cf6e_0_97:notes">
            <a:extLst>
              <a:ext uri="{FF2B5EF4-FFF2-40B4-BE49-F238E27FC236}">
                <a16:creationId xmlns:a16="http://schemas.microsoft.com/office/drawing/2014/main" id="{6951505C-D100-57AA-6ABA-4D5920C74D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a:extLst>
              <a:ext uri="{FF2B5EF4-FFF2-40B4-BE49-F238E27FC236}">
                <a16:creationId xmlns:a16="http://schemas.microsoft.com/office/drawing/2014/main" id="{87C4B236-5398-A5AB-42BE-94F7A6183D8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a:extLst>
              <a:ext uri="{FF2B5EF4-FFF2-40B4-BE49-F238E27FC236}">
                <a16:creationId xmlns:a16="http://schemas.microsoft.com/office/drawing/2014/main" id="{26E4625C-52C7-EFE9-5804-D1B808103C9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9312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578E4158-AD44-525A-696F-BA58BA33687B}"/>
            </a:ext>
          </a:extLst>
        </p:cNvPr>
        <p:cNvGrpSpPr/>
        <p:nvPr/>
      </p:nvGrpSpPr>
      <p:grpSpPr>
        <a:xfrm>
          <a:off x="0" y="0"/>
          <a:ext cx="0" cy="0"/>
          <a:chOff x="0" y="0"/>
          <a:chExt cx="0" cy="0"/>
        </a:xfrm>
      </p:grpSpPr>
      <p:sp>
        <p:nvSpPr>
          <p:cNvPr id="245" name="Google Shape;245;g21197e7cf6e_0_97:notes">
            <a:extLst>
              <a:ext uri="{FF2B5EF4-FFF2-40B4-BE49-F238E27FC236}">
                <a16:creationId xmlns:a16="http://schemas.microsoft.com/office/drawing/2014/main" id="{762EE230-C2F1-CA1E-9CEA-032EEBEE73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a:extLst>
              <a:ext uri="{FF2B5EF4-FFF2-40B4-BE49-F238E27FC236}">
                <a16:creationId xmlns:a16="http://schemas.microsoft.com/office/drawing/2014/main" id="{AB22B6CA-83F2-660A-3A8B-CC9593A79A9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a:extLst>
              <a:ext uri="{FF2B5EF4-FFF2-40B4-BE49-F238E27FC236}">
                <a16:creationId xmlns:a16="http://schemas.microsoft.com/office/drawing/2014/main" id="{AD1C0FBC-5760-E4F1-A582-6ACF7B5CD18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6372004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5458D05C-E144-0E5E-C3FC-79D7A559BEC5}"/>
            </a:ext>
          </a:extLst>
        </p:cNvPr>
        <p:cNvGrpSpPr/>
        <p:nvPr/>
      </p:nvGrpSpPr>
      <p:grpSpPr>
        <a:xfrm>
          <a:off x="0" y="0"/>
          <a:ext cx="0" cy="0"/>
          <a:chOff x="0" y="0"/>
          <a:chExt cx="0" cy="0"/>
        </a:xfrm>
      </p:grpSpPr>
      <p:sp>
        <p:nvSpPr>
          <p:cNvPr id="245" name="Google Shape;245;g21197e7cf6e_0_97:notes">
            <a:extLst>
              <a:ext uri="{FF2B5EF4-FFF2-40B4-BE49-F238E27FC236}">
                <a16:creationId xmlns:a16="http://schemas.microsoft.com/office/drawing/2014/main" id="{9575DA97-4326-9B2A-58E5-314FE840C3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a:extLst>
              <a:ext uri="{FF2B5EF4-FFF2-40B4-BE49-F238E27FC236}">
                <a16:creationId xmlns:a16="http://schemas.microsoft.com/office/drawing/2014/main" id="{C655F3A2-4098-A963-17E6-C3B67049B91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a:extLst>
              <a:ext uri="{FF2B5EF4-FFF2-40B4-BE49-F238E27FC236}">
                <a16:creationId xmlns:a16="http://schemas.microsoft.com/office/drawing/2014/main" id="{48C23872-5203-97FE-3D9E-09E7C7E6837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450840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6795CE50-C078-0868-7EF5-E959273421FD}"/>
            </a:ext>
          </a:extLst>
        </p:cNvPr>
        <p:cNvGrpSpPr/>
        <p:nvPr/>
      </p:nvGrpSpPr>
      <p:grpSpPr>
        <a:xfrm>
          <a:off x="0" y="0"/>
          <a:ext cx="0" cy="0"/>
          <a:chOff x="0" y="0"/>
          <a:chExt cx="0" cy="0"/>
        </a:xfrm>
      </p:grpSpPr>
      <p:sp>
        <p:nvSpPr>
          <p:cNvPr id="245" name="Google Shape;245;g21197e7cf6e_0_97:notes">
            <a:extLst>
              <a:ext uri="{FF2B5EF4-FFF2-40B4-BE49-F238E27FC236}">
                <a16:creationId xmlns:a16="http://schemas.microsoft.com/office/drawing/2014/main" id="{B62E7EFE-C4C8-409A-3290-32CF28DD95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a:extLst>
              <a:ext uri="{FF2B5EF4-FFF2-40B4-BE49-F238E27FC236}">
                <a16:creationId xmlns:a16="http://schemas.microsoft.com/office/drawing/2014/main" id="{6E09E11C-05F4-A837-81B4-08EB8FD0B96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a:extLst>
              <a:ext uri="{FF2B5EF4-FFF2-40B4-BE49-F238E27FC236}">
                <a16:creationId xmlns:a16="http://schemas.microsoft.com/office/drawing/2014/main" id="{4FF93F22-E1B2-AD4C-30E3-DE4452209FC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94057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DA5B40F1-2B99-50B6-9320-500CAB203FA6}"/>
            </a:ext>
          </a:extLst>
        </p:cNvPr>
        <p:cNvGrpSpPr/>
        <p:nvPr/>
      </p:nvGrpSpPr>
      <p:grpSpPr>
        <a:xfrm>
          <a:off x="0" y="0"/>
          <a:ext cx="0" cy="0"/>
          <a:chOff x="0" y="0"/>
          <a:chExt cx="0" cy="0"/>
        </a:xfrm>
      </p:grpSpPr>
      <p:sp>
        <p:nvSpPr>
          <p:cNvPr id="245" name="Google Shape;245;g21197e7cf6e_0_97:notes">
            <a:extLst>
              <a:ext uri="{FF2B5EF4-FFF2-40B4-BE49-F238E27FC236}">
                <a16:creationId xmlns:a16="http://schemas.microsoft.com/office/drawing/2014/main" id="{4885F41F-89DC-63A8-DCEB-B24A717DAD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a:extLst>
              <a:ext uri="{FF2B5EF4-FFF2-40B4-BE49-F238E27FC236}">
                <a16:creationId xmlns:a16="http://schemas.microsoft.com/office/drawing/2014/main" id="{7C2F8D2C-62BB-E08A-EE03-BB3A00BAE9B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a:extLst>
              <a:ext uri="{FF2B5EF4-FFF2-40B4-BE49-F238E27FC236}">
                <a16:creationId xmlns:a16="http://schemas.microsoft.com/office/drawing/2014/main" id="{7499BAD7-B5C9-1C90-B2F6-AEC9A0C9ED9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188274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9ABFFE04-430C-FB26-C444-1F3DD5D32011}"/>
            </a:ext>
          </a:extLst>
        </p:cNvPr>
        <p:cNvGrpSpPr/>
        <p:nvPr/>
      </p:nvGrpSpPr>
      <p:grpSpPr>
        <a:xfrm>
          <a:off x="0" y="0"/>
          <a:ext cx="0" cy="0"/>
          <a:chOff x="0" y="0"/>
          <a:chExt cx="0" cy="0"/>
        </a:xfrm>
      </p:grpSpPr>
      <p:sp>
        <p:nvSpPr>
          <p:cNvPr id="245" name="Google Shape;245;g21197e7cf6e_0_97:notes">
            <a:extLst>
              <a:ext uri="{FF2B5EF4-FFF2-40B4-BE49-F238E27FC236}">
                <a16:creationId xmlns:a16="http://schemas.microsoft.com/office/drawing/2014/main" id="{F097956C-3BB4-3E3E-3F37-08548E683F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a:extLst>
              <a:ext uri="{FF2B5EF4-FFF2-40B4-BE49-F238E27FC236}">
                <a16:creationId xmlns:a16="http://schemas.microsoft.com/office/drawing/2014/main" id="{EAD30A56-D1A0-080D-46FF-B36296CC99D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a:extLst>
              <a:ext uri="{FF2B5EF4-FFF2-40B4-BE49-F238E27FC236}">
                <a16:creationId xmlns:a16="http://schemas.microsoft.com/office/drawing/2014/main" id="{13B0DA95-8C4F-9062-9C89-8DF8E5B19F7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281075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0219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3856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10601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04368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g21194ee596e_0_1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16" name="Google Shape;16;g21194ee596e_0_119"/>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 name="Google Shape;17;g21194ee596e_0_119"/>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18" name="Google Shape;18;g21194ee596e_0_119"/>
          <p:cNvSpPr txBox="1"/>
          <p:nvPr/>
        </p:nvSpPr>
        <p:spPr>
          <a:xfrm>
            <a:off x="5060460" y="6306200"/>
            <a:ext cx="2071200" cy="1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79" name="Google Shape;79;p19"/>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0" name="Google Shape;80;p19"/>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9"/>
          <p:cNvSpPr txBox="1"/>
          <p:nvPr/>
        </p:nvSpPr>
        <p:spPr>
          <a:xfrm>
            <a:off x="5060460" y="6306200"/>
            <a:ext cx="2071080"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5" r:id="rId2"/>
    <p:sldLayoutId id="2147483656" r:id="rId3"/>
    <p:sldLayoutId id="2147483657"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pic>
        <p:nvPicPr>
          <p:cNvPr id="138" name="Google Shape;138;g21194ee596e_0_101"/>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9" name="Google Shape;150;p2">
            <a:extLst>
              <a:ext uri="{FF2B5EF4-FFF2-40B4-BE49-F238E27FC236}">
                <a16:creationId xmlns:a16="http://schemas.microsoft.com/office/drawing/2014/main"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id="{B7CA4B9B-2858-4A36-B12E-2F96EC08DC32}"/>
              </a:ext>
            </a:extLst>
          </p:cNvPr>
          <p:cNvSpPr txBox="1"/>
          <p:nvPr/>
        </p:nvSpPr>
        <p:spPr>
          <a:xfrm>
            <a:off x="219643" y="2551837"/>
            <a:ext cx="11463753" cy="1754326"/>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oppins" panose="020B0604020202020204" charset="0"/>
                <a:cs typeface="Poppins" panose="020B0604020202020204" charset="0"/>
              </a:rPr>
              <a:t>Banking Transactional </a:t>
            </a:r>
          </a:p>
          <a:p>
            <a:pPr algn="ctr"/>
            <a:r>
              <a:rPr lang="en-IN" sz="5400" b="1" dirty="0">
                <a:solidFill>
                  <a:schemeClr val="bg1"/>
                </a:solidFill>
                <a:latin typeface="Poppins" panose="020B0604020202020204" charset="0"/>
                <a:cs typeface="Poppins" panose="020B0604020202020204" charset="0"/>
              </a:rPr>
              <a:t>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oppins" panose="020B0604020202020204" charset="0"/>
                <a:cs typeface="Poppins" panose="020B0604020202020204" charset="0"/>
              </a:rPr>
              <a:t>Problem Statement</a:t>
            </a:r>
            <a:endParaRPr sz="2000"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panose="020B0604020202020204" charset="0"/>
                <a:ea typeface="Poppins"/>
                <a:cs typeface="Poppins" panose="020B0604020202020204" charset="0"/>
                <a:sym typeface="Poppins"/>
              </a:rPr>
              <a:t>Approach</a:t>
            </a:r>
            <a:endParaRPr sz="2000" i="0" u="none" strike="noStrike" cap="none"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Data Overview</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oppins"/>
                <a:ea typeface="Poppins"/>
                <a:cs typeface="Poppins"/>
                <a:sym typeface="Poppins"/>
              </a:rPr>
              <a:t>Project Workflow</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Exploratory Data Analysis</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Key Insights </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Recommendation</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Dashboard Preview</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Problem Statement</a:t>
            </a:r>
            <a:endParaRPr sz="28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0" name="Google Shape;170;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dirty="0">
              <a:solidFill>
                <a:srgbClr val="FFFFFF"/>
              </a:solidFill>
              <a:latin typeface="Poppins"/>
              <a:ea typeface="Poppins"/>
              <a:cs typeface="Poppins"/>
              <a:sym typeface="Poppins"/>
            </a:endParaRPr>
          </a:p>
        </p:txBody>
      </p:sp>
      <p:sp>
        <p:nvSpPr>
          <p:cNvPr id="175" name="Google Shape;175;g21194ee596e_0_174"/>
          <p:cNvSpPr txBox="1"/>
          <p:nvPr/>
        </p:nvSpPr>
        <p:spPr>
          <a:xfrm>
            <a:off x="635958" y="3429000"/>
            <a:ext cx="10305230" cy="2423740"/>
          </a:xfrm>
          <a:prstGeom prst="rect">
            <a:avLst/>
          </a:prstGeom>
          <a:noFill/>
          <a:ln>
            <a:noFill/>
          </a:ln>
        </p:spPr>
        <p:txBody>
          <a:bodyPr spcFirstLastPara="1" wrap="square" lIns="0" tIns="0" rIns="0" bIns="0" anchor="t" anchorCtr="0">
            <a:spAutoFit/>
          </a:bodyPr>
          <a:lstStyle/>
          <a:p>
            <a:pPr marL="425450" lvl="0" indent="-285750" algn="just">
              <a:lnSpc>
                <a:spcPct val="150000"/>
              </a:lnSpc>
              <a:buClr>
                <a:schemeClr val="dk1"/>
              </a:buClr>
              <a:buSzPts val="1400"/>
              <a:buFont typeface="Arial" panose="020B0604020202020204" pitchFamily="34" charset="0"/>
              <a:buChar char="•"/>
            </a:pPr>
            <a:r>
              <a:rPr lang="en-US" sz="1500" dirty="0">
                <a:latin typeface="Poppins" panose="00000500000000000000" pitchFamily="2" charset="0"/>
                <a:cs typeface="Poppins" panose="00000500000000000000" pitchFamily="2" charset="0"/>
              </a:rPr>
              <a:t>What are the defining characteristics and behavioral trends of the bank's key customer segments, and how do these patterns influence overall financial engagement?</a:t>
            </a:r>
            <a:endParaRPr lang="en-GB" sz="1500" dirty="0">
              <a:latin typeface="Poppins" panose="00000500000000000000" pitchFamily="2" charset="0"/>
              <a:cs typeface="Poppins" panose="00000500000000000000" pitchFamily="2" charset="0"/>
            </a:endParaRPr>
          </a:p>
          <a:p>
            <a:pPr marL="425450" lvl="0" indent="-285750" algn="just">
              <a:lnSpc>
                <a:spcPct val="150000"/>
              </a:lnSpc>
              <a:buClr>
                <a:schemeClr val="dk1"/>
              </a:buClr>
              <a:buSzPts val="1400"/>
              <a:buFont typeface="Arial" panose="020B0604020202020204" pitchFamily="34" charset="0"/>
              <a:buChar char="•"/>
            </a:pPr>
            <a:r>
              <a:rPr lang="en-US" sz="1500" dirty="0">
                <a:latin typeface="Poppins" panose="00000500000000000000" pitchFamily="2" charset="0"/>
                <a:cs typeface="Poppins" panose="00000500000000000000" pitchFamily="2" charset="0"/>
              </a:rPr>
              <a:t>How does the distribution of transactions across various channels reflect changing consumer preferences, and where are the greatest opportunities to optimize channel costs while maintaining loyalty?</a:t>
            </a:r>
            <a:endParaRPr lang="en-GB" sz="1500" dirty="0">
              <a:latin typeface="Poppins" panose="00000500000000000000" pitchFamily="2" charset="0"/>
              <a:cs typeface="Poppins" panose="00000500000000000000" pitchFamily="2" charset="0"/>
            </a:endParaRPr>
          </a:p>
          <a:p>
            <a:pPr marL="425450" lvl="0" indent="-285750" algn="just">
              <a:lnSpc>
                <a:spcPct val="150000"/>
              </a:lnSpc>
              <a:buClr>
                <a:schemeClr val="dk1"/>
              </a:buClr>
              <a:buSzPts val="1400"/>
              <a:buFont typeface="Arial" panose="020B0604020202020204" pitchFamily="34" charset="0"/>
              <a:buChar char="•"/>
            </a:pPr>
            <a:r>
              <a:rPr lang="en-US" sz="1500" dirty="0">
                <a:latin typeface="Poppins" panose="00000500000000000000" pitchFamily="2" charset="0"/>
                <a:cs typeface="Poppins" panose="00000500000000000000" pitchFamily="2" charset="0"/>
              </a:rPr>
              <a:t>What are the primary factors driving revenue across different product categories (Mortgage, Loan, Credit Card), and how can the bank optimize its cross-selling strategies?</a:t>
            </a:r>
            <a:endParaRPr sz="1500" b="0" i="0" u="none" strike="noStrike" cap="none" dirty="0">
              <a:solidFill>
                <a:srgbClr val="4D5156"/>
              </a:solidFill>
              <a:highlight>
                <a:srgbClr val="FFFFFF"/>
              </a:highlight>
              <a:latin typeface="Poppins" panose="00000500000000000000" pitchFamily="2" charset="0"/>
              <a:ea typeface="Poppins"/>
              <a:cs typeface="Poppins" panose="00000500000000000000" pitchFamily="2" charset="0"/>
              <a:sym typeface="Poppins"/>
            </a:endParaRPr>
          </a:p>
        </p:txBody>
      </p:sp>
      <p:sp>
        <p:nvSpPr>
          <p:cNvPr id="11" name="Google Shape;172;g21194ee596e_0_174">
            <a:extLst>
              <a:ext uri="{FF2B5EF4-FFF2-40B4-BE49-F238E27FC236}">
                <a16:creationId xmlns:a16="http://schemas.microsoft.com/office/drawing/2014/main" id="{8C5D04DA-9493-4639-B51F-7B0D3CD03EE2}"/>
              </a:ext>
            </a:extLst>
          </p:cNvPr>
          <p:cNvSpPr txBox="1">
            <a:spLocks/>
          </p:cNvSpPr>
          <p:nvPr/>
        </p:nvSpPr>
        <p:spPr>
          <a:xfrm>
            <a:off x="462995" y="2781160"/>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dirty="0">
                <a:effectLst/>
              </a:rPr>
              <a:t>What’s the Business Question?</a:t>
            </a:r>
            <a:endParaRPr lang="en-IN" sz="2400" b="0" dirty="0"/>
          </a:p>
        </p:txBody>
      </p:sp>
      <p:sp>
        <p:nvSpPr>
          <p:cNvPr id="3" name="TextBox 2">
            <a:extLst>
              <a:ext uri="{FF2B5EF4-FFF2-40B4-BE49-F238E27FC236}">
                <a16:creationId xmlns:a16="http://schemas.microsoft.com/office/drawing/2014/main" id="{F512B818-0481-4D4B-A218-CFCC6EAC3762}"/>
              </a:ext>
            </a:extLst>
          </p:cNvPr>
          <p:cNvSpPr txBox="1"/>
          <p:nvPr/>
        </p:nvSpPr>
        <p:spPr>
          <a:xfrm>
            <a:off x="382895" y="1169672"/>
            <a:ext cx="10119360" cy="1444626"/>
          </a:xfrm>
          <a:prstGeom prst="rect">
            <a:avLst/>
          </a:prstGeom>
          <a:noFill/>
        </p:spPr>
        <p:txBody>
          <a:bodyPr wrap="square" rtlCol="0">
            <a:spAutoFit/>
          </a:bodyPr>
          <a:lstStyle/>
          <a:p>
            <a:pPr algn="just">
              <a:lnSpc>
                <a:spcPct val="150000"/>
              </a:lnSpc>
            </a:pPr>
            <a:r>
              <a:rPr lang="en-US" sz="1500" dirty="0">
                <a:latin typeface="Poppins" panose="00000500000000000000" pitchFamily="2" charset="0"/>
                <a:cs typeface="Poppins" panose="00000500000000000000" pitchFamily="2" charset="0"/>
              </a:rPr>
              <a:t>A lack of deep analytical insights into customer banking patterns hinders the ability to personalize services and optimize profitability. This project leverages transactional datasets to identify key drivers of financial decisions, aiming to refine marketing strategies and improve customer satisfaction through data-driven segmentation.</a:t>
            </a:r>
            <a:endParaRPr lang="en-IN" sz="1500" dirty="0">
              <a:solidFill>
                <a:schemeClr val="tx1">
                  <a:lumMod val="65000"/>
                  <a:lumOff val="35000"/>
                </a:schemeClr>
              </a:solidFill>
              <a:latin typeface="Poppins" panose="00000500000000000000" pitchFamily="2" charset="0"/>
              <a:cs typeface="Poppins" panose="00000500000000000000" pitchFamily="2" charset="0"/>
            </a:endParaRPr>
          </a:p>
        </p:txBody>
      </p:sp>
      <p:sp>
        <p:nvSpPr>
          <p:cNvPr id="15" name="Google Shape;147;p2">
            <a:extLst>
              <a:ext uri="{FF2B5EF4-FFF2-40B4-BE49-F238E27FC236}">
                <a16:creationId xmlns:a16="http://schemas.microsoft.com/office/drawing/2014/main" id="{2BCC2704-FC24-43ED-A750-E2F92EF60F12}"/>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Problem Statement</a:t>
            </a:r>
            <a:endParaRPr lang="en-US" sz="32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Approach</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9860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EF786390-49C8-49E0-B426-C5157FAF1300}"/>
              </a:ext>
            </a:extLst>
          </p:cNvPr>
          <p:cNvSpPr/>
          <p:nvPr/>
        </p:nvSpPr>
        <p:spPr>
          <a:xfrm>
            <a:off x="817123"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Exploratory Data Analysis</a:t>
            </a:r>
          </a:p>
        </p:txBody>
      </p:sp>
      <p:sp>
        <p:nvSpPr>
          <p:cNvPr id="3" name="Oval 2">
            <a:extLst>
              <a:ext uri="{FF2B5EF4-FFF2-40B4-BE49-F238E27FC236}">
                <a16:creationId xmlns:a16="http://schemas.microsoft.com/office/drawing/2014/main" id="{061337D1-284D-48C4-8361-208DB620B30E}"/>
              </a:ext>
            </a:extLst>
          </p:cNvPr>
          <p:cNvSpPr/>
          <p:nvPr/>
        </p:nvSpPr>
        <p:spPr>
          <a:xfrm>
            <a:off x="982494"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1</a:t>
            </a:r>
          </a:p>
        </p:txBody>
      </p:sp>
      <p:sp>
        <p:nvSpPr>
          <p:cNvPr id="16" name="Rectangle: Rounded Corners 15">
            <a:extLst>
              <a:ext uri="{FF2B5EF4-FFF2-40B4-BE49-F238E27FC236}">
                <a16:creationId xmlns:a16="http://schemas.microsoft.com/office/drawing/2014/main" id="{032B42CF-2183-4765-8239-53586F24A1FA}"/>
              </a:ext>
            </a:extLst>
          </p:cNvPr>
          <p:cNvSpPr/>
          <p:nvPr/>
        </p:nvSpPr>
        <p:spPr>
          <a:xfrm>
            <a:off x="6919609"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Interactive Dashboard</a:t>
            </a:r>
          </a:p>
        </p:txBody>
      </p:sp>
      <p:sp>
        <p:nvSpPr>
          <p:cNvPr id="17" name="Oval 16">
            <a:extLst>
              <a:ext uri="{FF2B5EF4-FFF2-40B4-BE49-F238E27FC236}">
                <a16:creationId xmlns:a16="http://schemas.microsoft.com/office/drawing/2014/main" id="{573F0CD4-A48D-4AF0-AC81-7C2EDD09BE8E}"/>
              </a:ext>
            </a:extLst>
          </p:cNvPr>
          <p:cNvSpPr/>
          <p:nvPr/>
        </p:nvSpPr>
        <p:spPr>
          <a:xfrm>
            <a:off x="7084980"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2</a:t>
            </a:r>
          </a:p>
        </p:txBody>
      </p:sp>
      <p:pic>
        <p:nvPicPr>
          <p:cNvPr id="6" name="Picture 5">
            <a:extLst>
              <a:ext uri="{FF2B5EF4-FFF2-40B4-BE49-F238E27FC236}">
                <a16:creationId xmlns:a16="http://schemas.microsoft.com/office/drawing/2014/main" id="{D2DC62CA-5400-4726-99B5-FBA6F814D20E}"/>
              </a:ext>
            </a:extLst>
          </p:cNvPr>
          <p:cNvPicPr>
            <a:picLocks noChangeAspect="1"/>
          </p:cNvPicPr>
          <p:nvPr/>
        </p:nvPicPr>
        <p:blipFill>
          <a:blip r:embed="rId4"/>
          <a:srcRect/>
          <a:stretch/>
        </p:blipFill>
        <p:spPr>
          <a:xfrm>
            <a:off x="5597105" y="2217906"/>
            <a:ext cx="826546" cy="826546"/>
          </a:xfrm>
          <a:prstGeom prst="rect">
            <a:avLst/>
          </a:prstGeom>
        </p:spPr>
      </p:pic>
      <p:sp>
        <p:nvSpPr>
          <p:cNvPr id="7" name="Arrow: Down 6">
            <a:extLst>
              <a:ext uri="{FF2B5EF4-FFF2-40B4-BE49-F238E27FC236}">
                <a16:creationId xmlns:a16="http://schemas.microsoft.com/office/drawing/2014/main" id="{B04D62CA-0D74-423A-8B8E-1D0931ACDA1B}"/>
              </a:ext>
            </a:extLst>
          </p:cNvPr>
          <p:cNvSpPr/>
          <p:nvPr/>
        </p:nvSpPr>
        <p:spPr>
          <a:xfrm>
            <a:off x="2587557"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1C2E06F-C69F-4CC8-81D6-46C8AE055B33}"/>
              </a:ext>
            </a:extLst>
          </p:cNvPr>
          <p:cNvSpPr/>
          <p:nvPr/>
        </p:nvSpPr>
        <p:spPr>
          <a:xfrm>
            <a:off x="8860278"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767FD30-A16F-4190-90E2-E5D864B23DCA}"/>
              </a:ext>
            </a:extLst>
          </p:cNvPr>
          <p:cNvSpPr txBox="1"/>
          <p:nvPr/>
        </p:nvSpPr>
        <p:spPr>
          <a:xfrm>
            <a:off x="1527243" y="5077838"/>
            <a:ext cx="3745148" cy="830997"/>
          </a:xfrm>
          <a:prstGeom prst="rect">
            <a:avLst/>
          </a:prstGeom>
          <a:noFill/>
        </p:spPr>
        <p:txBody>
          <a:bodyPr wrap="square" rtlCol="0">
            <a:spAutoFit/>
          </a:bodyPr>
          <a:lstStyle/>
          <a:p>
            <a:r>
              <a:rPr lang="en-US" sz="1600" dirty="0">
                <a:latin typeface="Poppins" panose="00000500000000000000" pitchFamily="2" charset="0"/>
                <a:cs typeface="Poppins" panose="00000500000000000000" pitchFamily="2" charset="0"/>
              </a:rPr>
              <a:t>Deep dive into income demographics, customer scores, and transaction fee impacts</a:t>
            </a:r>
            <a:endParaRPr lang="en-IN" sz="1600" dirty="0">
              <a:solidFill>
                <a:schemeClr val="tx1">
                  <a:lumMod val="65000"/>
                  <a:lumOff val="35000"/>
                </a:schemeClr>
              </a:solidFill>
              <a:latin typeface="Poppins" panose="00000500000000000000" pitchFamily="2" charset="0"/>
              <a:cs typeface="Poppins" panose="00000500000000000000" pitchFamily="2" charset="0"/>
            </a:endParaRPr>
          </a:p>
        </p:txBody>
      </p:sp>
      <p:sp>
        <p:nvSpPr>
          <p:cNvPr id="22" name="TextBox 21">
            <a:extLst>
              <a:ext uri="{FF2B5EF4-FFF2-40B4-BE49-F238E27FC236}">
                <a16:creationId xmlns:a16="http://schemas.microsoft.com/office/drawing/2014/main" id="{757D9954-2268-4CDE-BEC9-BD6EB7D4C508}"/>
              </a:ext>
            </a:extLst>
          </p:cNvPr>
          <p:cNvSpPr txBox="1"/>
          <p:nvPr/>
        </p:nvSpPr>
        <p:spPr>
          <a:xfrm>
            <a:off x="7217923" y="5077838"/>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Build a live view for business Users to self serve insights </a:t>
            </a:r>
          </a:p>
        </p:txBody>
      </p:sp>
      <p:sp>
        <p:nvSpPr>
          <p:cNvPr id="23" name="TextBox 22">
            <a:extLst>
              <a:ext uri="{FF2B5EF4-FFF2-40B4-BE49-F238E27FC236}">
                <a16:creationId xmlns:a16="http://schemas.microsoft.com/office/drawing/2014/main" id="{75B3FF80-C907-4C20-93BB-629AEE984E90}"/>
              </a:ext>
            </a:extLst>
          </p:cNvPr>
          <p:cNvSpPr txBox="1"/>
          <p:nvPr/>
        </p:nvSpPr>
        <p:spPr>
          <a:xfrm>
            <a:off x="7217923" y="5790674"/>
            <a:ext cx="3745148" cy="830997"/>
          </a:xfrm>
          <a:prstGeom prst="rect">
            <a:avLst/>
          </a:prstGeom>
          <a:noFill/>
        </p:spPr>
        <p:txBody>
          <a:bodyPr wrap="square" rtlCol="0">
            <a:spAutoFit/>
          </a:bodyPr>
          <a:lstStyle/>
          <a:p>
            <a:r>
              <a:rPr lang="en-US" sz="1600" dirty="0">
                <a:latin typeface="Poppins" panose="00000500000000000000" pitchFamily="2" charset="0"/>
                <a:cs typeface="Poppins" panose="00000500000000000000" pitchFamily="2" charset="0"/>
              </a:rPr>
              <a:t>Enable granular ad-hoc slicing by transaction amount segment, channel, and financial product</a:t>
            </a:r>
            <a:endParaRPr lang="en-IN" sz="1600" dirty="0">
              <a:solidFill>
                <a:schemeClr val="tx1">
                  <a:lumMod val="65000"/>
                  <a:lumOff val="35000"/>
                </a:schemeClr>
              </a:solidFill>
              <a:latin typeface="Poppins" panose="00000500000000000000" pitchFamily="2" charset="0"/>
              <a:cs typeface="Poppins" panose="00000500000000000000" pitchFamily="2" charset="0"/>
            </a:endParaRPr>
          </a:p>
        </p:txBody>
      </p:sp>
      <p:sp>
        <p:nvSpPr>
          <p:cNvPr id="30" name="TextBox 29">
            <a:extLst>
              <a:ext uri="{FF2B5EF4-FFF2-40B4-BE49-F238E27FC236}">
                <a16:creationId xmlns:a16="http://schemas.microsoft.com/office/drawing/2014/main" id="{F5524C7F-A5F0-4504-9D64-B4D4EEE5B159}"/>
              </a:ext>
            </a:extLst>
          </p:cNvPr>
          <p:cNvSpPr txBox="1"/>
          <p:nvPr/>
        </p:nvSpPr>
        <p:spPr>
          <a:xfrm>
            <a:off x="1554361" y="5874070"/>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Surface trend, outliers &amp; relationships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1" name="Oval 30">
            <a:extLst>
              <a:ext uri="{FF2B5EF4-FFF2-40B4-BE49-F238E27FC236}">
                <a16:creationId xmlns:a16="http://schemas.microsoft.com/office/drawing/2014/main" id="{2CFBD04C-D308-49D3-A942-AE5485CA5565}"/>
              </a:ext>
            </a:extLst>
          </p:cNvPr>
          <p:cNvSpPr/>
          <p:nvPr/>
        </p:nvSpPr>
        <p:spPr>
          <a:xfrm>
            <a:off x="1313234" y="5185820"/>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1CED950A-B354-4091-B9D5-11788B58C8A9}"/>
              </a:ext>
            </a:extLst>
          </p:cNvPr>
          <p:cNvSpPr/>
          <p:nvPr/>
        </p:nvSpPr>
        <p:spPr>
          <a:xfrm>
            <a:off x="1313234" y="5873242"/>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5B87BB1-CDC3-4813-831F-CEF786CD3A56}"/>
              </a:ext>
            </a:extLst>
          </p:cNvPr>
          <p:cNvSpPr/>
          <p:nvPr/>
        </p:nvSpPr>
        <p:spPr>
          <a:xfrm>
            <a:off x="7004880" y="5185819"/>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744AD04-BDD3-4E9F-9B41-BC3CAFE7F84B}"/>
              </a:ext>
            </a:extLst>
          </p:cNvPr>
          <p:cNvSpPr/>
          <p:nvPr/>
        </p:nvSpPr>
        <p:spPr>
          <a:xfrm>
            <a:off x="7004880" y="5873241"/>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47;p2">
            <a:extLst>
              <a:ext uri="{FF2B5EF4-FFF2-40B4-BE49-F238E27FC236}">
                <a16:creationId xmlns:a16="http://schemas.microsoft.com/office/drawing/2014/main" id="{E2C9632B-DA41-4294-8BC1-3C70617AD806}"/>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Approach – Two phase solution</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5936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dirty="0">
                <a:solidFill>
                  <a:srgbClr val="FFFFFF"/>
                </a:solidFill>
                <a:latin typeface="Poppins"/>
                <a:ea typeface="Poppins"/>
                <a:cs typeface="Poppins"/>
                <a:sym typeface="Poppins"/>
              </a:rPr>
              <a:t>Project Workflow</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498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F224B0A-B7DA-4658-84D8-77EAAAA36721}"/>
              </a:ext>
            </a:extLst>
          </p:cNvPr>
          <p:cNvGrpSpPr/>
          <p:nvPr/>
        </p:nvGrpSpPr>
        <p:grpSpPr>
          <a:xfrm>
            <a:off x="722279" y="1736386"/>
            <a:ext cx="515566" cy="496110"/>
            <a:chOff x="1342417" y="1955260"/>
            <a:chExt cx="603115" cy="584775"/>
          </a:xfrm>
        </p:grpSpPr>
        <p:sp>
          <p:nvSpPr>
            <p:cNvPr id="3" name="Oval 2">
              <a:extLst>
                <a:ext uri="{FF2B5EF4-FFF2-40B4-BE49-F238E27FC236}">
                  <a16:creationId xmlns:a16="http://schemas.microsoft.com/office/drawing/2014/main"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Oval 9">
              <a:extLst>
                <a:ext uri="{FF2B5EF4-FFF2-40B4-BE49-F238E27FC236}">
                  <a16:creationId xmlns:a16="http://schemas.microsoft.com/office/drawing/2014/main"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21" name="Group 20">
            <a:extLst>
              <a:ext uri="{FF2B5EF4-FFF2-40B4-BE49-F238E27FC236}">
                <a16:creationId xmlns:a16="http://schemas.microsoft.com/office/drawing/2014/main" id="{D5E95E7B-E630-4DFF-9DBE-EE55E40FEADD}"/>
              </a:ext>
            </a:extLst>
          </p:cNvPr>
          <p:cNvGrpSpPr/>
          <p:nvPr/>
        </p:nvGrpSpPr>
        <p:grpSpPr>
          <a:xfrm>
            <a:off x="1381328" y="1434217"/>
            <a:ext cx="3988340" cy="1172796"/>
            <a:chOff x="1381328" y="1434217"/>
            <a:chExt cx="3988340" cy="1172796"/>
          </a:xfrm>
        </p:grpSpPr>
        <p:grpSp>
          <p:nvGrpSpPr>
            <p:cNvPr id="20" name="Group 19">
              <a:extLst>
                <a:ext uri="{FF2B5EF4-FFF2-40B4-BE49-F238E27FC236}">
                  <a16:creationId xmlns:a16="http://schemas.microsoft.com/office/drawing/2014/main" id="{BF6D0B17-11C6-4912-A377-9ACA0AA9214F}"/>
                </a:ext>
              </a:extLst>
            </p:cNvPr>
            <p:cNvGrpSpPr/>
            <p:nvPr/>
          </p:nvGrpSpPr>
          <p:grpSpPr>
            <a:xfrm>
              <a:off x="1381328" y="1434217"/>
              <a:ext cx="3988340" cy="1172796"/>
              <a:chOff x="1381328" y="1434217"/>
              <a:chExt cx="3988340" cy="1172796"/>
            </a:xfrm>
          </p:grpSpPr>
          <p:grpSp>
            <p:nvGrpSpPr>
              <p:cNvPr id="19" name="Group 18">
                <a:extLst>
                  <a:ext uri="{FF2B5EF4-FFF2-40B4-BE49-F238E27FC236}">
                    <a16:creationId xmlns:a16="http://schemas.microsoft.com/office/drawing/2014/main" id="{280696E0-F33F-4F8F-BEF9-47CE369EC2B4}"/>
                  </a:ext>
                </a:extLst>
              </p:cNvPr>
              <p:cNvGrpSpPr/>
              <p:nvPr/>
            </p:nvGrpSpPr>
            <p:grpSpPr>
              <a:xfrm>
                <a:off x="1381328" y="1434829"/>
                <a:ext cx="3988340" cy="1172184"/>
                <a:chOff x="1381328" y="1434829"/>
                <a:chExt cx="3988340" cy="1172184"/>
              </a:xfrm>
            </p:grpSpPr>
            <p:sp>
              <p:nvSpPr>
                <p:cNvPr id="7" name="Rectangle: Rounded Corners 6">
                  <a:extLst>
                    <a:ext uri="{FF2B5EF4-FFF2-40B4-BE49-F238E27FC236}">
                      <a16:creationId xmlns:a16="http://schemas.microsoft.com/office/drawing/2014/main"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8" name="Rectangle: Rounded Corners 7">
                  <a:extLst>
                    <a:ext uri="{FF2B5EF4-FFF2-40B4-BE49-F238E27FC236}">
                      <a16:creationId xmlns:a16="http://schemas.microsoft.com/office/drawing/2014/main"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id="{03EC3956-454F-47F7-9AA5-29BE27635D16}"/>
                  </a:ext>
                </a:extLst>
              </p:cNvPr>
              <p:cNvSpPr txBox="1"/>
              <p:nvPr/>
            </p:nvSpPr>
            <p:spPr>
              <a:xfrm>
                <a:off x="1976717" y="1434217"/>
                <a:ext cx="2896947"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Define Business Objective</a:t>
                </a:r>
              </a:p>
            </p:txBody>
          </p:sp>
        </p:grpSp>
        <p:sp>
          <p:nvSpPr>
            <p:cNvPr id="11" name="TextBox 10">
              <a:extLst>
                <a:ext uri="{FF2B5EF4-FFF2-40B4-BE49-F238E27FC236}">
                  <a16:creationId xmlns:a16="http://schemas.microsoft.com/office/drawing/2014/main" id="{F6CA487F-1F18-4418-AFDB-70EDFA869D6E}"/>
                </a:ext>
              </a:extLst>
            </p:cNvPr>
            <p:cNvSpPr txBox="1"/>
            <p:nvPr/>
          </p:nvSpPr>
          <p:spPr>
            <a:xfrm>
              <a:off x="1710446" y="1920858"/>
              <a:ext cx="3561945"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Understand the core problem and expected business outcomes.</a:t>
              </a:r>
              <a:endParaRPr lang="en-IN" dirty="0">
                <a:solidFill>
                  <a:schemeClr val="tx1">
                    <a:lumMod val="75000"/>
                    <a:lumOff val="25000"/>
                  </a:schemeClr>
                </a:solidFill>
                <a:latin typeface="Poppins" panose="020B0604020202020204" charset="0"/>
                <a:cs typeface="Poppins" panose="020B0604020202020204" charset="0"/>
              </a:endParaRPr>
            </a:p>
          </p:txBody>
        </p:sp>
      </p:grpSp>
      <p:grpSp>
        <p:nvGrpSpPr>
          <p:cNvPr id="44" name="Group 43">
            <a:extLst>
              <a:ext uri="{FF2B5EF4-FFF2-40B4-BE49-F238E27FC236}">
                <a16:creationId xmlns:a16="http://schemas.microsoft.com/office/drawing/2014/main" id="{13ABB51D-93B4-4559-9723-16F56AB8FD1A}"/>
              </a:ext>
            </a:extLst>
          </p:cNvPr>
          <p:cNvGrpSpPr/>
          <p:nvPr/>
        </p:nvGrpSpPr>
        <p:grpSpPr>
          <a:xfrm>
            <a:off x="6984748" y="3414638"/>
            <a:ext cx="4653866" cy="1172184"/>
            <a:chOff x="6919610" y="1435135"/>
            <a:chExt cx="4653866" cy="1172184"/>
          </a:xfrm>
        </p:grpSpPr>
        <p:grpSp>
          <p:nvGrpSpPr>
            <p:cNvPr id="45" name="Group 44">
              <a:extLst>
                <a:ext uri="{FF2B5EF4-FFF2-40B4-BE49-F238E27FC236}">
                  <a16:creationId xmlns:a16="http://schemas.microsoft.com/office/drawing/2014/main" id="{2F10BEBF-CAA9-4E1C-8804-9AD4FEBC11FC}"/>
                </a:ext>
              </a:extLst>
            </p:cNvPr>
            <p:cNvGrpSpPr/>
            <p:nvPr/>
          </p:nvGrpSpPr>
          <p:grpSpPr>
            <a:xfrm>
              <a:off x="6919610" y="1736386"/>
              <a:ext cx="515566" cy="496110"/>
              <a:chOff x="1342417" y="1955260"/>
              <a:chExt cx="603115" cy="584775"/>
            </a:xfrm>
          </p:grpSpPr>
          <p:sp>
            <p:nvSpPr>
              <p:cNvPr id="53" name="Oval 52">
                <a:extLst>
                  <a:ext uri="{FF2B5EF4-FFF2-40B4-BE49-F238E27FC236}">
                    <a16:creationId xmlns:a16="http://schemas.microsoft.com/office/drawing/2014/main"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4" name="Oval 53">
                <a:extLst>
                  <a:ext uri="{FF2B5EF4-FFF2-40B4-BE49-F238E27FC236}">
                    <a16:creationId xmlns:a16="http://schemas.microsoft.com/office/drawing/2014/main"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46" name="Group 45">
              <a:extLst>
                <a:ext uri="{FF2B5EF4-FFF2-40B4-BE49-F238E27FC236}">
                  <a16:creationId xmlns:a16="http://schemas.microsoft.com/office/drawing/2014/main" id="{2FD70D27-79C1-4CB8-9C88-50C0AD4D1C43}"/>
                </a:ext>
              </a:extLst>
            </p:cNvPr>
            <p:cNvGrpSpPr/>
            <p:nvPr/>
          </p:nvGrpSpPr>
          <p:grpSpPr>
            <a:xfrm>
              <a:off x="7585136" y="1435135"/>
              <a:ext cx="3988340" cy="1172184"/>
              <a:chOff x="1381328" y="1434829"/>
              <a:chExt cx="3988340" cy="1172184"/>
            </a:xfrm>
          </p:grpSpPr>
          <p:grpSp>
            <p:nvGrpSpPr>
              <p:cNvPr id="47" name="Group 46">
                <a:extLst>
                  <a:ext uri="{FF2B5EF4-FFF2-40B4-BE49-F238E27FC236}">
                    <a16:creationId xmlns:a16="http://schemas.microsoft.com/office/drawing/2014/main" id="{FB466A84-A327-402E-B0EE-240358F469A9}"/>
                  </a:ext>
                </a:extLst>
              </p:cNvPr>
              <p:cNvGrpSpPr/>
              <p:nvPr/>
            </p:nvGrpSpPr>
            <p:grpSpPr>
              <a:xfrm>
                <a:off x="1381328" y="1434829"/>
                <a:ext cx="3988340" cy="1172184"/>
                <a:chOff x="1381328" y="1434829"/>
                <a:chExt cx="3988340" cy="1172184"/>
              </a:xfrm>
            </p:grpSpPr>
            <p:grpSp>
              <p:nvGrpSpPr>
                <p:cNvPr id="49" name="Group 48">
                  <a:extLst>
                    <a:ext uri="{FF2B5EF4-FFF2-40B4-BE49-F238E27FC236}">
                      <a16:creationId xmlns:a16="http://schemas.microsoft.com/office/drawing/2014/main" id="{E38C62B5-1764-446B-B8BD-582328EDE665}"/>
                    </a:ext>
                  </a:extLst>
                </p:cNvPr>
                <p:cNvGrpSpPr/>
                <p:nvPr/>
              </p:nvGrpSpPr>
              <p:grpSpPr>
                <a:xfrm>
                  <a:off x="1381328" y="1434829"/>
                  <a:ext cx="3988340" cy="1172184"/>
                  <a:chOff x="1381328" y="1434829"/>
                  <a:chExt cx="3988340" cy="1172184"/>
                </a:xfrm>
              </p:grpSpPr>
              <p:sp>
                <p:nvSpPr>
                  <p:cNvPr id="51" name="Rectangle: Rounded Corners 50">
                    <a:extLst>
                      <a:ext uri="{FF2B5EF4-FFF2-40B4-BE49-F238E27FC236}">
                        <a16:creationId xmlns:a16="http://schemas.microsoft.com/office/drawing/2014/main"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2" name="Rectangle: Rounded Corners 51">
                    <a:extLst>
                      <a:ext uri="{FF2B5EF4-FFF2-40B4-BE49-F238E27FC236}">
                        <a16:creationId xmlns:a16="http://schemas.microsoft.com/office/drawing/2014/main"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0" name="TextBox 49">
                  <a:extLst>
                    <a:ext uri="{FF2B5EF4-FFF2-40B4-BE49-F238E27FC236}">
                      <a16:creationId xmlns:a16="http://schemas.microsoft.com/office/drawing/2014/main" id="{CCFB88F7-E9DF-47EA-9A63-46EC97BB4623}"/>
                    </a:ext>
                  </a:extLst>
                </p:cNvPr>
                <p:cNvSpPr txBox="1"/>
                <p:nvPr/>
              </p:nvSpPr>
              <p:spPr>
                <a:xfrm>
                  <a:off x="1569398" y="1444250"/>
                  <a:ext cx="3562194"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dirty="0"/>
                    <a:t>Exploratory Data Analysis (EDA)</a:t>
                  </a:r>
                </a:p>
              </p:txBody>
            </p:sp>
          </p:grpSp>
          <p:sp>
            <p:nvSpPr>
              <p:cNvPr id="48" name="TextBox 47">
                <a:extLst>
                  <a:ext uri="{FF2B5EF4-FFF2-40B4-BE49-F238E27FC236}">
                    <a16:creationId xmlns:a16="http://schemas.microsoft.com/office/drawing/2014/main" id="{E03AD762-7D6E-4041-9E82-C8162B932722}"/>
                  </a:ext>
                </a:extLst>
              </p:cNvPr>
              <p:cNvSpPr txBox="1"/>
              <p:nvPr/>
            </p:nvSpPr>
            <p:spPr>
              <a:xfrm>
                <a:off x="1528064" y="1893064"/>
                <a:ext cx="3603279"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Visualize trends, compare performance, and extract key insights.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55" name="Group 54">
            <a:extLst>
              <a:ext uri="{FF2B5EF4-FFF2-40B4-BE49-F238E27FC236}">
                <a16:creationId xmlns:a16="http://schemas.microsoft.com/office/drawing/2014/main" id="{72B13C1E-3853-4A2C-BFA8-EA9291EB86D9}"/>
              </a:ext>
            </a:extLst>
          </p:cNvPr>
          <p:cNvGrpSpPr/>
          <p:nvPr/>
        </p:nvGrpSpPr>
        <p:grpSpPr>
          <a:xfrm>
            <a:off x="772714" y="3251131"/>
            <a:ext cx="4844748" cy="1210636"/>
            <a:chOff x="6919610" y="1396683"/>
            <a:chExt cx="4844748" cy="1210636"/>
          </a:xfrm>
        </p:grpSpPr>
        <p:grpSp>
          <p:nvGrpSpPr>
            <p:cNvPr id="56" name="Group 55">
              <a:extLst>
                <a:ext uri="{FF2B5EF4-FFF2-40B4-BE49-F238E27FC236}">
                  <a16:creationId xmlns:a16="http://schemas.microsoft.com/office/drawing/2014/main" id="{110D2896-6330-44DF-BCBE-D030ED21923C}"/>
                </a:ext>
              </a:extLst>
            </p:cNvPr>
            <p:cNvGrpSpPr/>
            <p:nvPr/>
          </p:nvGrpSpPr>
          <p:grpSpPr>
            <a:xfrm>
              <a:off x="6919610" y="1736386"/>
              <a:ext cx="515566" cy="496110"/>
              <a:chOff x="1342417" y="1955260"/>
              <a:chExt cx="603115" cy="584775"/>
            </a:xfrm>
          </p:grpSpPr>
          <p:sp>
            <p:nvSpPr>
              <p:cNvPr id="64" name="Oval 63">
                <a:extLst>
                  <a:ext uri="{FF2B5EF4-FFF2-40B4-BE49-F238E27FC236}">
                    <a16:creationId xmlns:a16="http://schemas.microsoft.com/office/drawing/2014/main"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65" name="Oval 64">
                <a:extLst>
                  <a:ext uri="{FF2B5EF4-FFF2-40B4-BE49-F238E27FC236}">
                    <a16:creationId xmlns:a16="http://schemas.microsoft.com/office/drawing/2014/main"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57" name="Group 56">
              <a:extLst>
                <a:ext uri="{FF2B5EF4-FFF2-40B4-BE49-F238E27FC236}">
                  <a16:creationId xmlns:a16="http://schemas.microsoft.com/office/drawing/2014/main" id="{E0E4E9CE-06FE-4A1A-AEDB-A3115758DB6B}"/>
                </a:ext>
              </a:extLst>
            </p:cNvPr>
            <p:cNvGrpSpPr/>
            <p:nvPr/>
          </p:nvGrpSpPr>
          <p:grpSpPr>
            <a:xfrm>
              <a:off x="7585136" y="1396683"/>
              <a:ext cx="4179222" cy="1210636"/>
              <a:chOff x="1381328" y="1396377"/>
              <a:chExt cx="4179222" cy="1210636"/>
            </a:xfrm>
          </p:grpSpPr>
          <p:grpSp>
            <p:nvGrpSpPr>
              <p:cNvPr id="58" name="Group 57">
                <a:extLst>
                  <a:ext uri="{FF2B5EF4-FFF2-40B4-BE49-F238E27FC236}">
                    <a16:creationId xmlns:a16="http://schemas.microsoft.com/office/drawing/2014/main" id="{1AB8E4A4-F199-4A40-ADCF-4C974F31936D}"/>
                  </a:ext>
                </a:extLst>
              </p:cNvPr>
              <p:cNvGrpSpPr/>
              <p:nvPr/>
            </p:nvGrpSpPr>
            <p:grpSpPr>
              <a:xfrm>
                <a:off x="1381328" y="1396377"/>
                <a:ext cx="4179222" cy="1210636"/>
                <a:chOff x="1381328" y="1396377"/>
                <a:chExt cx="4179222" cy="1210636"/>
              </a:xfrm>
            </p:grpSpPr>
            <p:grpSp>
              <p:nvGrpSpPr>
                <p:cNvPr id="60" name="Group 59">
                  <a:extLst>
                    <a:ext uri="{FF2B5EF4-FFF2-40B4-BE49-F238E27FC236}">
                      <a16:creationId xmlns:a16="http://schemas.microsoft.com/office/drawing/2014/main" id="{6060757E-3A57-4E72-8521-B3500CC3B70E}"/>
                    </a:ext>
                  </a:extLst>
                </p:cNvPr>
                <p:cNvGrpSpPr/>
                <p:nvPr/>
              </p:nvGrpSpPr>
              <p:grpSpPr>
                <a:xfrm>
                  <a:off x="1381328" y="1434829"/>
                  <a:ext cx="3988340" cy="1172184"/>
                  <a:chOff x="1381328" y="1434829"/>
                  <a:chExt cx="3988340" cy="1172184"/>
                </a:xfrm>
              </p:grpSpPr>
              <p:sp>
                <p:nvSpPr>
                  <p:cNvPr id="62" name="Rectangle: Rounded Corners 61">
                    <a:extLst>
                      <a:ext uri="{FF2B5EF4-FFF2-40B4-BE49-F238E27FC236}">
                        <a16:creationId xmlns:a16="http://schemas.microsoft.com/office/drawing/2014/main"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63" name="Rectangle: Rounded Corners 62">
                    <a:extLst>
                      <a:ext uri="{FF2B5EF4-FFF2-40B4-BE49-F238E27FC236}">
                        <a16:creationId xmlns:a16="http://schemas.microsoft.com/office/drawing/2014/main" id="{ACD131EC-6919-4C50-A80F-27A3831A01A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1" name="TextBox 60">
                  <a:extLst>
                    <a:ext uri="{FF2B5EF4-FFF2-40B4-BE49-F238E27FC236}">
                      <a16:creationId xmlns:a16="http://schemas.microsoft.com/office/drawing/2014/main" id="{D5D5ED60-A3EA-45E9-97D8-1F08E47E6C2F}"/>
                    </a:ext>
                  </a:extLst>
                </p:cNvPr>
                <p:cNvSpPr txBox="1"/>
                <p:nvPr/>
              </p:nvSpPr>
              <p:spPr>
                <a:xfrm>
                  <a:off x="1408451" y="1396377"/>
                  <a:ext cx="4152099" cy="400110"/>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Dashboarding</a:t>
                  </a:r>
                  <a:r>
                    <a:rPr lang="en-IN" sz="2000" dirty="0"/>
                    <a:t> </a:t>
                  </a:r>
                  <a:r>
                    <a:rPr lang="en-IN" sz="1600" b="1" dirty="0">
                      <a:solidFill>
                        <a:schemeClr val="bg1">
                          <a:lumMod val="95000"/>
                        </a:schemeClr>
                      </a:solidFill>
                      <a:latin typeface="Poppins" panose="020B0604020202020204" charset="0"/>
                      <a:cs typeface="Poppins" panose="020B0604020202020204" charset="0"/>
                    </a:rPr>
                    <a:t>&amp;</a:t>
                  </a:r>
                  <a:r>
                    <a:rPr lang="en-IN" sz="2000" dirty="0"/>
                    <a:t> </a:t>
                  </a:r>
                  <a:r>
                    <a:rPr lang="en-IN" sz="1600" b="1" dirty="0">
                      <a:solidFill>
                        <a:schemeClr val="bg1">
                          <a:lumMod val="95000"/>
                        </a:schemeClr>
                      </a:solidFill>
                      <a:latin typeface="Poppins" panose="020B0604020202020204" charset="0"/>
                      <a:cs typeface="Poppins" panose="020B0604020202020204" charset="0"/>
                    </a:rPr>
                    <a:t>Recommendations</a:t>
                  </a:r>
                </a:p>
              </p:txBody>
            </p:sp>
          </p:grpSp>
          <p:sp>
            <p:nvSpPr>
              <p:cNvPr id="59" name="TextBox 58">
                <a:extLst>
                  <a:ext uri="{FF2B5EF4-FFF2-40B4-BE49-F238E27FC236}">
                    <a16:creationId xmlns:a16="http://schemas.microsoft.com/office/drawing/2014/main" id="{E91E3C3A-3821-404A-ADC1-9EF6E819833C}"/>
                  </a:ext>
                </a:extLst>
              </p:cNvPr>
              <p:cNvSpPr txBox="1"/>
              <p:nvPr/>
            </p:nvSpPr>
            <p:spPr>
              <a:xfrm>
                <a:off x="1562185" y="1893064"/>
                <a:ext cx="356915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Build Power BI dashboard and present strategic findings.</a:t>
                </a:r>
                <a:endParaRPr lang="en-IN" dirty="0">
                  <a:solidFill>
                    <a:schemeClr val="tx1">
                      <a:lumMod val="75000"/>
                      <a:lumOff val="25000"/>
                    </a:schemeClr>
                  </a:solidFill>
                  <a:latin typeface="Poppins" panose="020B0604020202020204" charset="0"/>
                  <a:cs typeface="Poppins" panose="020B0604020202020204" charset="0"/>
                </a:endParaRPr>
              </a:p>
            </p:txBody>
          </p:sp>
        </p:grpSp>
      </p:grpSp>
      <p:sp>
        <p:nvSpPr>
          <p:cNvPr id="23" name="Arrow: Right 22">
            <a:extLst>
              <a:ext uri="{FF2B5EF4-FFF2-40B4-BE49-F238E27FC236}">
                <a16:creationId xmlns:a16="http://schemas.microsoft.com/office/drawing/2014/main" id="{07B9B53A-B034-4382-A896-C2726EE95972}"/>
              </a:ext>
            </a:extLst>
          </p:cNvPr>
          <p:cNvSpPr/>
          <p:nvPr/>
        </p:nvSpPr>
        <p:spPr>
          <a:xfrm>
            <a:off x="5711497" y="1919825"/>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3889887A-74E6-40EB-B837-1877233C60FC}"/>
              </a:ext>
            </a:extLst>
          </p:cNvPr>
          <p:cNvSpPr/>
          <p:nvPr/>
        </p:nvSpPr>
        <p:spPr>
          <a:xfrm flipH="1">
            <a:off x="5711497" y="3834922"/>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Right 79">
            <a:extLst>
              <a:ext uri="{FF2B5EF4-FFF2-40B4-BE49-F238E27FC236}">
                <a16:creationId xmlns:a16="http://schemas.microsoft.com/office/drawing/2014/main" id="{6FA1A312-DD06-4728-96F8-F8B412D92DA6}"/>
              </a:ext>
            </a:extLst>
          </p:cNvPr>
          <p:cNvSpPr/>
          <p:nvPr/>
        </p:nvSpPr>
        <p:spPr>
          <a:xfrm rot="5400000">
            <a:off x="9271597" y="2882540"/>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Google Shape;147;p2">
            <a:extLst>
              <a:ext uri="{FF2B5EF4-FFF2-40B4-BE49-F238E27FC236}">
                <a16:creationId xmlns:a16="http://schemas.microsoft.com/office/drawing/2014/main" id="{FE671C9F-19B6-4496-AED5-59042014B1D2}"/>
              </a:ext>
            </a:extLst>
          </p:cNvPr>
          <p:cNvSpPr txBox="1">
            <a:spLocks/>
          </p:cNvSpPr>
          <p:nvPr/>
        </p:nvSpPr>
        <p:spPr>
          <a:xfrm>
            <a:off x="463043" y="421813"/>
            <a:ext cx="40708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oppins" panose="020B0604020202020204" charset="0"/>
                <a:cs typeface="Poppins" panose="020B0604020202020204" charset="0"/>
              </a:rPr>
              <a:t>Project Workflow</a:t>
            </a:r>
          </a:p>
          <a:p>
            <a:endParaRPr lang="en-US" sz="3200" dirty="0">
              <a:solidFill>
                <a:schemeClr val="tx1">
                  <a:lumMod val="75000"/>
                  <a:lumOff val="25000"/>
                </a:schemeClr>
              </a:solidFill>
            </a:endParaRPr>
          </a:p>
        </p:txBody>
      </p:sp>
      <p:grpSp>
        <p:nvGrpSpPr>
          <p:cNvPr id="195" name="Group 194">
            <a:extLst>
              <a:ext uri="{FF2B5EF4-FFF2-40B4-BE49-F238E27FC236}">
                <a16:creationId xmlns:a16="http://schemas.microsoft.com/office/drawing/2014/main" id="{52167714-E54F-ED14-7ABE-E14659D2727F}"/>
              </a:ext>
            </a:extLst>
          </p:cNvPr>
          <p:cNvGrpSpPr/>
          <p:nvPr/>
        </p:nvGrpSpPr>
        <p:grpSpPr>
          <a:xfrm>
            <a:off x="6867800" y="1245035"/>
            <a:ext cx="4489826" cy="1288279"/>
            <a:chOff x="12772235" y="-547869"/>
            <a:chExt cx="4686778" cy="1172184"/>
          </a:xfrm>
        </p:grpSpPr>
        <p:grpSp>
          <p:nvGrpSpPr>
            <p:cNvPr id="196" name="Group 195">
              <a:extLst>
                <a:ext uri="{FF2B5EF4-FFF2-40B4-BE49-F238E27FC236}">
                  <a16:creationId xmlns:a16="http://schemas.microsoft.com/office/drawing/2014/main" id="{CB983196-F114-A60F-9119-CFE028792FAD}"/>
                </a:ext>
              </a:extLst>
            </p:cNvPr>
            <p:cNvGrpSpPr/>
            <p:nvPr/>
          </p:nvGrpSpPr>
          <p:grpSpPr>
            <a:xfrm>
              <a:off x="12772235" y="-82159"/>
              <a:ext cx="515566" cy="496110"/>
              <a:chOff x="8188884" y="-188296"/>
              <a:chExt cx="603115" cy="584775"/>
            </a:xfrm>
          </p:grpSpPr>
          <p:sp>
            <p:nvSpPr>
              <p:cNvPr id="207" name="Oval 206">
                <a:extLst>
                  <a:ext uri="{FF2B5EF4-FFF2-40B4-BE49-F238E27FC236}">
                    <a16:creationId xmlns:a16="http://schemas.microsoft.com/office/drawing/2014/main" id="{16255A86-AE8A-9B46-0267-B0B966C681C2}"/>
                  </a:ext>
                </a:extLst>
              </p:cNvPr>
              <p:cNvSpPr/>
              <p:nvPr/>
            </p:nvSpPr>
            <p:spPr>
              <a:xfrm>
                <a:off x="8188884" y="-188296"/>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208" name="Oval 207">
                <a:extLst>
                  <a:ext uri="{FF2B5EF4-FFF2-40B4-BE49-F238E27FC236}">
                    <a16:creationId xmlns:a16="http://schemas.microsoft.com/office/drawing/2014/main" id="{4264B0AD-9C5A-F5AD-C243-6D104049345D}"/>
                  </a:ext>
                </a:extLst>
              </p:cNvPr>
              <p:cNvSpPr/>
              <p:nvPr/>
            </p:nvSpPr>
            <p:spPr>
              <a:xfrm>
                <a:off x="8256261" y="-66069"/>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200" name="Group 199">
              <a:extLst>
                <a:ext uri="{FF2B5EF4-FFF2-40B4-BE49-F238E27FC236}">
                  <a16:creationId xmlns:a16="http://schemas.microsoft.com/office/drawing/2014/main" id="{CE2D1706-E1CB-0AA2-529D-CDC098D91E6F}"/>
                </a:ext>
              </a:extLst>
            </p:cNvPr>
            <p:cNvGrpSpPr/>
            <p:nvPr/>
          </p:nvGrpSpPr>
          <p:grpSpPr>
            <a:xfrm>
              <a:off x="13470673" y="-547869"/>
              <a:ext cx="3988340" cy="1172184"/>
              <a:chOff x="7266865" y="-548175"/>
              <a:chExt cx="3988340" cy="1172184"/>
            </a:xfrm>
          </p:grpSpPr>
          <p:grpSp>
            <p:nvGrpSpPr>
              <p:cNvPr id="203" name="Group 202">
                <a:extLst>
                  <a:ext uri="{FF2B5EF4-FFF2-40B4-BE49-F238E27FC236}">
                    <a16:creationId xmlns:a16="http://schemas.microsoft.com/office/drawing/2014/main" id="{CA150563-EA97-0F50-14F0-882BFE534AB0}"/>
                  </a:ext>
                </a:extLst>
              </p:cNvPr>
              <p:cNvGrpSpPr/>
              <p:nvPr/>
            </p:nvGrpSpPr>
            <p:grpSpPr>
              <a:xfrm>
                <a:off x="7266865" y="-548175"/>
                <a:ext cx="3988340" cy="1172184"/>
                <a:chOff x="7266865" y="-548175"/>
                <a:chExt cx="3988340" cy="1172184"/>
              </a:xfrm>
            </p:grpSpPr>
            <p:sp>
              <p:nvSpPr>
                <p:cNvPr id="210" name="Rectangle: Rounded Corners 209">
                  <a:extLst>
                    <a:ext uri="{FF2B5EF4-FFF2-40B4-BE49-F238E27FC236}">
                      <a16:creationId xmlns:a16="http://schemas.microsoft.com/office/drawing/2014/main" id="{9661899A-237A-C2BF-84E0-5E1B04747450}"/>
                    </a:ext>
                  </a:extLst>
                </p:cNvPr>
                <p:cNvSpPr/>
                <p:nvPr/>
              </p:nvSpPr>
              <p:spPr>
                <a:xfrm>
                  <a:off x="7266865" y="-548175"/>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211" name="Rectangle: Rounded Corners 210">
                  <a:extLst>
                    <a:ext uri="{FF2B5EF4-FFF2-40B4-BE49-F238E27FC236}">
                      <a16:creationId xmlns:a16="http://schemas.microsoft.com/office/drawing/2014/main" id="{CBBB70DA-FA2F-6690-A2BE-C69ED8DAC55D}"/>
                    </a:ext>
                  </a:extLst>
                </p:cNvPr>
                <p:cNvSpPr/>
                <p:nvPr/>
              </p:nvSpPr>
              <p:spPr>
                <a:xfrm>
                  <a:off x="7266865" y="-210845"/>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12" name="TextBox 211">
                <a:extLst>
                  <a:ext uri="{FF2B5EF4-FFF2-40B4-BE49-F238E27FC236}">
                    <a16:creationId xmlns:a16="http://schemas.microsoft.com/office/drawing/2014/main" id="{33A31580-5C0B-18B8-A168-835ACD337B18}"/>
                  </a:ext>
                </a:extLst>
              </p:cNvPr>
              <p:cNvSpPr txBox="1"/>
              <p:nvPr/>
            </p:nvSpPr>
            <p:spPr>
              <a:xfrm>
                <a:off x="7539035" y="-511374"/>
                <a:ext cx="3687228"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Data Loading &amp; Initial Exploration</a:t>
                </a:r>
              </a:p>
            </p:txBody>
          </p:sp>
        </p:grpSp>
      </p:grpSp>
      <p:sp>
        <p:nvSpPr>
          <p:cNvPr id="215" name="TextBox 214">
            <a:extLst>
              <a:ext uri="{FF2B5EF4-FFF2-40B4-BE49-F238E27FC236}">
                <a16:creationId xmlns:a16="http://schemas.microsoft.com/office/drawing/2014/main" id="{C3B4E990-3050-9251-F510-DE4D29F95113}"/>
              </a:ext>
            </a:extLst>
          </p:cNvPr>
          <p:cNvSpPr txBox="1"/>
          <p:nvPr/>
        </p:nvSpPr>
        <p:spPr>
          <a:xfrm>
            <a:off x="7552410" y="1787899"/>
            <a:ext cx="3622090"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Load into VS Code for initial profiling and data understanding using Python.</a:t>
            </a:r>
            <a:endParaRPr lang="en-IN" dirty="0">
              <a:solidFill>
                <a:schemeClr val="tx1">
                  <a:lumMod val="75000"/>
                  <a:lumOff val="25000"/>
                </a:schemeClr>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71110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Exploratory Data Analysis</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9114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1964988" y="1745013"/>
            <a:ext cx="4173165" cy="3970318"/>
          </a:xfrm>
          <a:prstGeom prst="rect">
            <a:avLst/>
          </a:prstGeom>
          <a:noFill/>
        </p:spPr>
        <p:txBody>
          <a:bodyPr wrap="square">
            <a:spAutoFit/>
          </a:bodyPr>
          <a:lstStyle/>
          <a:p>
            <a:pPr marL="285750" indent="-285750">
              <a:buFont typeface="Arial" panose="020B0604020202020204" pitchFamily="34" charset="0"/>
              <a:buChar char="•"/>
            </a:pPr>
            <a:r>
              <a:rPr lang="en-GB" sz="1800" dirty="0">
                <a:effectLst/>
                <a:latin typeface="+mj-lt"/>
                <a:cs typeface="Poppins" panose="020B0604020202020204" charset="0"/>
              </a:rPr>
              <a:t>Import Libraries</a:t>
            </a:r>
          </a:p>
          <a:p>
            <a:pPr marL="285750" indent="-285750">
              <a:buFont typeface="Arial" panose="020B0604020202020204" pitchFamily="34" charset="0"/>
              <a:buChar char="•"/>
            </a:pPr>
            <a:endParaRPr lang="en-GB" sz="1800" dirty="0">
              <a:latin typeface="+mj-lt"/>
              <a:cs typeface="Poppins" panose="020B0604020202020204" charset="0"/>
            </a:endParaRPr>
          </a:p>
          <a:p>
            <a:pPr marL="285750" indent="-285750">
              <a:buFont typeface="Arial" panose="020B0604020202020204" pitchFamily="34" charset="0"/>
              <a:buChar char="•"/>
            </a:pPr>
            <a:r>
              <a:rPr lang="en-GB" sz="1800" dirty="0">
                <a:effectLst/>
                <a:latin typeface="+mj-lt"/>
                <a:cs typeface="Poppins" panose="020B0604020202020204" charset="0"/>
              </a:rPr>
              <a:t>Load Data</a:t>
            </a:r>
          </a:p>
          <a:p>
            <a:pPr marL="285750" indent="-285750">
              <a:buFont typeface="Arial" panose="020B0604020202020204" pitchFamily="34" charset="0"/>
              <a:buChar char="•"/>
            </a:pPr>
            <a:endParaRPr lang="en-GB" sz="1800" dirty="0">
              <a:effectLst/>
              <a:latin typeface="+mj-lt"/>
              <a:cs typeface="Poppins" panose="020B0604020202020204" charset="0"/>
            </a:endParaRPr>
          </a:p>
          <a:p>
            <a:pPr marL="285750" indent="-285750">
              <a:buFont typeface="Arial" panose="020B0604020202020204" pitchFamily="34" charset="0"/>
              <a:buChar char="•"/>
            </a:pPr>
            <a:r>
              <a:rPr lang="en-GB" sz="1800" dirty="0">
                <a:effectLst/>
                <a:latin typeface="+mj-lt"/>
                <a:cs typeface="Poppins" panose="020B0604020202020204" charset="0"/>
              </a:rPr>
              <a:t>Initial Exploration</a:t>
            </a:r>
          </a:p>
          <a:p>
            <a:pPr marL="285750" indent="-285750">
              <a:buFont typeface="Arial" panose="020B0604020202020204" pitchFamily="34" charset="0"/>
              <a:buChar char="•"/>
            </a:pPr>
            <a:endParaRPr lang="en-GB" sz="1800" dirty="0">
              <a:effectLst/>
              <a:latin typeface="+mj-lt"/>
              <a:cs typeface="Poppins" panose="020B0604020202020204" charset="0"/>
            </a:endParaRPr>
          </a:p>
          <a:p>
            <a:pPr marL="285750" indent="-285750">
              <a:buFont typeface="Arial" panose="020B0604020202020204" pitchFamily="34" charset="0"/>
              <a:buChar char="•"/>
            </a:pPr>
            <a:r>
              <a:rPr lang="en-GB" sz="1800" dirty="0">
                <a:effectLst/>
                <a:latin typeface="+mj-lt"/>
                <a:cs typeface="Poppins" panose="020B0604020202020204" charset="0"/>
              </a:rPr>
              <a:t>Pre-processing &amp; Cleaning</a:t>
            </a:r>
          </a:p>
          <a:p>
            <a:pPr marL="285750" indent="-285750">
              <a:buFont typeface="Arial" panose="020B0604020202020204" pitchFamily="34" charset="0"/>
              <a:buChar char="•"/>
            </a:pPr>
            <a:endParaRPr lang="en-GB" sz="1800" dirty="0">
              <a:latin typeface="+mj-lt"/>
              <a:cs typeface="Poppins" panose="020B0604020202020204" charset="0"/>
            </a:endParaRPr>
          </a:p>
          <a:p>
            <a:pPr marL="285750" indent="-285750">
              <a:buFont typeface="Arial" panose="020B0604020202020204" pitchFamily="34" charset="0"/>
              <a:buChar char="•"/>
            </a:pPr>
            <a:r>
              <a:rPr lang="en-GB" sz="1800" dirty="0">
                <a:effectLst/>
                <a:latin typeface="+mj-lt"/>
                <a:cs typeface="Poppins" panose="020B0604020202020204" charset="0"/>
              </a:rPr>
              <a:t>Feature Engineering</a:t>
            </a:r>
          </a:p>
          <a:p>
            <a:pPr marL="285750" indent="-285750">
              <a:buFont typeface="Arial" panose="020B0604020202020204" pitchFamily="34" charset="0"/>
              <a:buChar char="•"/>
            </a:pPr>
            <a:endParaRPr lang="en-GB" sz="1800" dirty="0">
              <a:effectLst/>
              <a:latin typeface="+mj-lt"/>
              <a:cs typeface="Poppins" panose="020B0604020202020204" charset="0"/>
            </a:endParaRPr>
          </a:p>
          <a:p>
            <a:pPr marL="285750" indent="-285750">
              <a:buFont typeface="Arial" panose="020B0604020202020204" pitchFamily="34" charset="0"/>
              <a:buChar char="•"/>
            </a:pPr>
            <a:r>
              <a:rPr lang="en-GB" sz="1800" dirty="0">
                <a:effectLst/>
                <a:latin typeface="+mj-lt"/>
                <a:cs typeface="Poppins" panose="020B0604020202020204" charset="0"/>
              </a:rPr>
              <a:t>EDA &amp; Visualization</a:t>
            </a:r>
          </a:p>
          <a:p>
            <a:pPr marL="285750" indent="-285750">
              <a:buFont typeface="Arial" panose="020B0604020202020204" pitchFamily="34" charset="0"/>
              <a:buChar char="•"/>
            </a:pPr>
            <a:endParaRPr lang="en-GB" sz="1800" dirty="0">
              <a:effectLst/>
              <a:latin typeface="+mj-lt"/>
              <a:cs typeface="Poppins" panose="020B0604020202020204" charset="0"/>
            </a:endParaRPr>
          </a:p>
          <a:p>
            <a:pPr marL="285750" indent="-285750">
              <a:buFont typeface="Arial" panose="020B0604020202020204" pitchFamily="34" charset="0"/>
              <a:buChar char="•"/>
            </a:pPr>
            <a:r>
              <a:rPr lang="en-GB" sz="1800" dirty="0">
                <a:effectLst/>
                <a:latin typeface="+mj-lt"/>
                <a:cs typeface="Poppins" panose="020B0604020202020204" charset="0"/>
              </a:rPr>
              <a:t>Key Insights</a:t>
            </a:r>
          </a:p>
          <a:p>
            <a:pPr marL="285750" indent="-285750">
              <a:buFont typeface="Arial" panose="020B0604020202020204" pitchFamily="34" charset="0"/>
              <a:buChar char="•"/>
            </a:pPr>
            <a:endParaRPr lang="en-GB" sz="1800" dirty="0">
              <a:effectLst/>
              <a:latin typeface="+mj-lt"/>
              <a:cs typeface="Poppins" panose="020B0604020202020204" charset="0"/>
            </a:endParaRPr>
          </a:p>
        </p:txBody>
      </p:sp>
      <p:sp>
        <p:nvSpPr>
          <p:cNvPr id="13" name="Google Shape;147;p2">
            <a:extLst>
              <a:ext uri="{FF2B5EF4-FFF2-40B4-BE49-F238E27FC236}">
                <a16:creationId xmlns:a16="http://schemas.microsoft.com/office/drawing/2014/main" id="{BF34FB7D-0F60-49E3-91BC-CB2D4866555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EDA: Step‑by‑Step Process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2670250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2" name="Google Shape;147;p2">
            <a:extLst>
              <a:ext uri="{FF2B5EF4-FFF2-40B4-BE49-F238E27FC236}">
                <a16:creationId xmlns:a16="http://schemas.microsoft.com/office/drawing/2014/main" id="{E3929227-E3EB-4B33-86BC-AAE4BD37EC3D}"/>
              </a:ext>
            </a:extLst>
          </p:cNvPr>
          <p:cNvSpPr txBox="1">
            <a:spLocks/>
          </p:cNvSpPr>
          <p:nvPr/>
        </p:nvSpPr>
        <p:spPr>
          <a:xfrm>
            <a:off x="462995" y="172765"/>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a:solidFill>
                  <a:schemeClr val="tx1">
                    <a:lumMod val="75000"/>
                    <a:lumOff val="25000"/>
                  </a:schemeClr>
                </a:solidFill>
                <a:latin typeface="+mj-lt"/>
              </a:rPr>
              <a:t>Data Overview</a:t>
            </a:r>
            <a:endParaRPr lang="en-US" sz="2500" dirty="0">
              <a:solidFill>
                <a:schemeClr val="tx1">
                  <a:lumMod val="75000"/>
                  <a:lumOff val="25000"/>
                </a:schemeClr>
              </a:solidFill>
              <a:latin typeface="+mj-lt"/>
            </a:endParaRPr>
          </a:p>
        </p:txBody>
      </p:sp>
      <p:sp>
        <p:nvSpPr>
          <p:cNvPr id="11" name="TextBox 10">
            <a:extLst>
              <a:ext uri="{FF2B5EF4-FFF2-40B4-BE49-F238E27FC236}">
                <a16:creationId xmlns:a16="http://schemas.microsoft.com/office/drawing/2014/main" id="{50787BAF-5CAA-46D9-383E-648E5BDD20A4}"/>
              </a:ext>
            </a:extLst>
          </p:cNvPr>
          <p:cNvSpPr txBox="1"/>
          <p:nvPr/>
        </p:nvSpPr>
        <p:spPr>
          <a:xfrm>
            <a:off x="780395" y="611347"/>
            <a:ext cx="11209282" cy="605691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300" dirty="0"/>
              <a:t>Transaction ID: Unique identifier for each transaction</a:t>
            </a:r>
          </a:p>
          <a:p>
            <a:pPr marL="285750" lvl="0" indent="-285750">
              <a:lnSpc>
                <a:spcPct val="150000"/>
              </a:lnSpc>
              <a:buFont typeface="Arial" panose="020B0604020202020204" pitchFamily="34" charset="0"/>
              <a:buChar char="•"/>
            </a:pPr>
            <a:r>
              <a:rPr lang="en-US" sz="1300" dirty="0"/>
              <a:t>Customer ID: Unique identifier for each customer</a:t>
            </a:r>
          </a:p>
          <a:p>
            <a:pPr marL="285750" lvl="0" indent="-285750">
              <a:lnSpc>
                <a:spcPct val="150000"/>
              </a:lnSpc>
              <a:buFont typeface="Arial" panose="020B0604020202020204" pitchFamily="34" charset="0"/>
              <a:buChar char="•"/>
            </a:pPr>
            <a:r>
              <a:rPr lang="en-US" sz="1300" dirty="0"/>
              <a:t>Transaction Date: Date the transaction occurred</a:t>
            </a:r>
          </a:p>
          <a:p>
            <a:pPr marL="285750" lvl="0" indent="-285750">
              <a:lnSpc>
                <a:spcPct val="150000"/>
              </a:lnSpc>
              <a:buFont typeface="Arial" panose="020B0604020202020204" pitchFamily="34" charset="0"/>
              <a:buChar char="•"/>
            </a:pPr>
            <a:r>
              <a:rPr lang="en-US" sz="1300" dirty="0"/>
              <a:t>Transaction Type: Type of transaction (e.g., deposit, withdrawal, transfer, card payment, fees)</a:t>
            </a:r>
          </a:p>
          <a:p>
            <a:pPr marL="285750" lvl="0" indent="-285750">
              <a:lnSpc>
                <a:spcPct val="150000"/>
              </a:lnSpc>
              <a:buFont typeface="Arial" panose="020B0604020202020204" pitchFamily="34" charset="0"/>
              <a:buChar char="•"/>
            </a:pPr>
            <a:r>
              <a:rPr lang="en-US" sz="1300" dirty="0"/>
              <a:t>Amount: Monetary value of the transaction</a:t>
            </a:r>
          </a:p>
          <a:p>
            <a:pPr marL="285750" lvl="0" indent="-285750">
              <a:lnSpc>
                <a:spcPct val="150000"/>
              </a:lnSpc>
              <a:buFont typeface="Arial" panose="020B0604020202020204" pitchFamily="34" charset="0"/>
              <a:buChar char="•"/>
            </a:pPr>
            <a:r>
              <a:rPr lang="en-US" sz="1300" dirty="0"/>
              <a:t>Product Category: Category of financial products related to the transaction</a:t>
            </a:r>
          </a:p>
          <a:p>
            <a:pPr marL="285750" lvl="0" indent="-285750">
              <a:lnSpc>
                <a:spcPct val="150000"/>
              </a:lnSpc>
              <a:buFont typeface="Arial" panose="020B0604020202020204" pitchFamily="34" charset="0"/>
              <a:buChar char="•"/>
            </a:pPr>
            <a:r>
              <a:rPr lang="en-US" sz="1300" dirty="0"/>
              <a:t>Product Subcategory: Product category</a:t>
            </a:r>
          </a:p>
          <a:p>
            <a:pPr marL="285750" lvl="0" indent="-285750">
              <a:lnSpc>
                <a:spcPct val="150000"/>
              </a:lnSpc>
              <a:buFont typeface="Arial" panose="020B0604020202020204" pitchFamily="34" charset="0"/>
              <a:buChar char="•"/>
            </a:pPr>
            <a:r>
              <a:rPr lang="en-US" sz="1300" dirty="0"/>
              <a:t>Branch City: City where the transaction took place or branch located there</a:t>
            </a:r>
          </a:p>
          <a:p>
            <a:pPr marL="285750" lvl="0" indent="-285750">
              <a:lnSpc>
                <a:spcPct val="150000"/>
              </a:lnSpc>
              <a:buFont typeface="Arial" panose="020B0604020202020204" pitchFamily="34" charset="0"/>
              <a:buChar char="•"/>
            </a:pPr>
            <a:r>
              <a:rPr lang="en-US" sz="1300" dirty="0"/>
              <a:t>Branch Lat: Branch macro</a:t>
            </a:r>
          </a:p>
          <a:p>
            <a:pPr marL="285750" lvl="0" indent="-285750">
              <a:lnSpc>
                <a:spcPct val="150000"/>
              </a:lnSpc>
              <a:buFont typeface="Arial" panose="020B0604020202020204" pitchFamily="34" charset="0"/>
              <a:buChar char="•"/>
            </a:pPr>
            <a:r>
              <a:rPr lang="en-US" sz="1300" dirty="0"/>
              <a:t>Branch Longitude: Longitude of the branch</a:t>
            </a:r>
          </a:p>
          <a:p>
            <a:pPr marL="285750" lvl="0" indent="-285750">
              <a:lnSpc>
                <a:spcPct val="150000"/>
              </a:lnSpc>
              <a:buFont typeface="Arial" panose="020B0604020202020204" pitchFamily="34" charset="0"/>
              <a:buChar char="•"/>
            </a:pPr>
            <a:r>
              <a:rPr lang="en-US" sz="1300" dirty="0"/>
              <a:t>Channel: Channel where the transaction was executed (e.g., at a tea shop, ATM, mobile phone)</a:t>
            </a:r>
          </a:p>
          <a:p>
            <a:pPr marL="285750" lvl="0" indent="-285750">
              <a:lnSpc>
                <a:spcPct val="150000"/>
              </a:lnSpc>
              <a:buFont typeface="Arial" panose="020B0604020202020204" pitchFamily="34" charset="0"/>
              <a:buChar char="•"/>
            </a:pPr>
            <a:r>
              <a:rPr lang="en-US" sz="1300" dirty="0"/>
              <a:t>Currency: Currency used in the transaction</a:t>
            </a:r>
          </a:p>
          <a:p>
            <a:pPr marL="285750" lvl="0" indent="-285750">
              <a:lnSpc>
                <a:spcPct val="150000"/>
              </a:lnSpc>
              <a:buFont typeface="Arial" panose="020B0604020202020204" pitchFamily="34" charset="0"/>
              <a:buChar char="•"/>
            </a:pPr>
            <a:r>
              <a:rPr lang="en-US" sz="1300" dirty="0"/>
              <a:t>Credit Card Fees: Fees incurred from using a credit card</a:t>
            </a:r>
          </a:p>
          <a:p>
            <a:pPr marL="285750" lvl="0" indent="-285750">
              <a:lnSpc>
                <a:spcPct val="150000"/>
              </a:lnSpc>
              <a:buFont typeface="Arial" panose="020B0604020202020204" pitchFamily="34" charset="0"/>
              <a:buChar char="•"/>
            </a:pPr>
            <a:r>
              <a:rPr lang="en-US" sz="1300" dirty="0"/>
              <a:t>Insurance Fees: Fees related to insurance in the transaction</a:t>
            </a:r>
          </a:p>
          <a:p>
            <a:pPr marL="285750" lvl="0" indent="-285750">
              <a:lnSpc>
                <a:spcPct val="150000"/>
              </a:lnSpc>
              <a:buFont typeface="Arial" panose="020B0604020202020204" pitchFamily="34" charset="0"/>
              <a:buChar char="•"/>
            </a:pPr>
            <a:r>
              <a:rPr lang="en-US" sz="1300" dirty="0"/>
              <a:t>Late Payment Amount: Amount charged by the payment processing device</a:t>
            </a:r>
          </a:p>
          <a:p>
            <a:pPr marL="285750" lvl="0" indent="-285750">
              <a:lnSpc>
                <a:spcPct val="150000"/>
              </a:lnSpc>
              <a:buFont typeface="Arial" panose="020B0604020202020204" pitchFamily="34" charset="0"/>
              <a:buChar char="•"/>
            </a:pPr>
            <a:r>
              <a:rPr lang="en-US" sz="1300" dirty="0"/>
              <a:t>Customer Score: Credit score or internal rating Customer Segment</a:t>
            </a:r>
          </a:p>
          <a:p>
            <a:pPr marL="285750" lvl="0" indent="-285750">
              <a:lnSpc>
                <a:spcPct val="150000"/>
              </a:lnSpc>
              <a:buFont typeface="Arial" panose="020B0604020202020204" pitchFamily="34" charset="0"/>
              <a:buChar char="•"/>
            </a:pPr>
            <a:r>
              <a:rPr lang="en-US" sz="1300" dirty="0"/>
              <a:t>Monthly Income: Customer's monthly income</a:t>
            </a:r>
          </a:p>
          <a:p>
            <a:pPr marL="285750" lvl="0" indent="-285750">
              <a:lnSpc>
                <a:spcPct val="150000"/>
              </a:lnSpc>
              <a:buFont typeface="Arial" panose="020B0604020202020204" pitchFamily="34" charset="0"/>
              <a:buChar char="•"/>
            </a:pPr>
            <a:r>
              <a:rPr lang="en-US" sz="1300" dirty="0" err="1"/>
              <a:t>CustomerSegment</a:t>
            </a:r>
            <a:r>
              <a:rPr lang="en-US" sz="1300" dirty="0"/>
              <a:t>: Customer's income segment</a:t>
            </a:r>
          </a:p>
          <a:p>
            <a:pPr marL="285750" lvl="0" indent="-285750">
              <a:lnSpc>
                <a:spcPct val="150000"/>
              </a:lnSpc>
              <a:buFont typeface="Arial" panose="020B0604020202020204" pitchFamily="34" charset="0"/>
              <a:buChar char="•"/>
            </a:pPr>
            <a:r>
              <a:rPr lang="en-US" sz="1300" dirty="0"/>
              <a:t>Recommendation: Product or offer produced for the customer</a:t>
            </a:r>
          </a:p>
          <a:p>
            <a:pPr marL="285750" lvl="0" indent="-285750">
              <a:lnSpc>
                <a:spcPct val="150000"/>
              </a:lnSpc>
              <a:buFont typeface="Arial" panose="020B0604020202020204" pitchFamily="34" charset="0"/>
              <a:buChar char="•"/>
            </a:pPr>
            <a:endParaRPr lang="en-US" sz="1300" dirty="0"/>
          </a:p>
        </p:txBody>
      </p:sp>
    </p:spTree>
    <p:extLst>
      <p:ext uri="{BB962C8B-B14F-4D97-AF65-F5344CB8AC3E}">
        <p14:creationId xmlns:p14="http://schemas.microsoft.com/office/powerpoint/2010/main" val="1255263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D0FC1C4F-1FAC-AD14-BD41-AA41BB32E013}"/>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9D2383B3-62EE-350B-7B89-51D29535D9EC}"/>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284A8234-80B1-C3C8-567A-B3A6E5F3F128}"/>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D422518F-E821-7294-8C20-709129D2D2E1}"/>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D6D3878F-6CBB-4C82-E192-CE96B8653036}"/>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BF82A709-BCB0-CD5E-7A5C-B6ACD8EA1F7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1BDED60F-889A-B04D-2FEA-815CE527C41D}"/>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52981921-6556-751A-09FB-C2E4D216E27E}"/>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2" name="Google Shape;147;p2">
            <a:extLst>
              <a:ext uri="{FF2B5EF4-FFF2-40B4-BE49-F238E27FC236}">
                <a16:creationId xmlns:a16="http://schemas.microsoft.com/office/drawing/2014/main" id="{4FBA1C3D-5701-19EF-6169-7535F1EF4135}"/>
              </a:ext>
            </a:extLst>
          </p:cNvPr>
          <p:cNvSpPr txBox="1">
            <a:spLocks/>
          </p:cNvSpPr>
          <p:nvPr/>
        </p:nvSpPr>
        <p:spPr>
          <a:xfrm>
            <a:off x="462995" y="172765"/>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a:solidFill>
                  <a:schemeClr val="tx1">
                    <a:lumMod val="75000"/>
                    <a:lumOff val="25000"/>
                  </a:schemeClr>
                </a:solidFill>
                <a:latin typeface="+mj-lt"/>
              </a:rPr>
              <a:t>Data Categorization</a:t>
            </a:r>
            <a:endParaRPr lang="en-US" sz="2500" dirty="0">
              <a:solidFill>
                <a:schemeClr val="tx1">
                  <a:lumMod val="75000"/>
                  <a:lumOff val="25000"/>
                </a:schemeClr>
              </a:solidFill>
              <a:latin typeface="+mj-lt"/>
            </a:endParaRPr>
          </a:p>
        </p:txBody>
      </p:sp>
      <p:sp>
        <p:nvSpPr>
          <p:cNvPr id="11" name="TextBox 10">
            <a:extLst>
              <a:ext uri="{FF2B5EF4-FFF2-40B4-BE49-F238E27FC236}">
                <a16:creationId xmlns:a16="http://schemas.microsoft.com/office/drawing/2014/main" id="{83FF9C11-D8CE-652B-7E1F-A94DB341C61E}"/>
              </a:ext>
            </a:extLst>
          </p:cNvPr>
          <p:cNvSpPr txBox="1"/>
          <p:nvPr/>
        </p:nvSpPr>
        <p:spPr>
          <a:xfrm>
            <a:off x="637097" y="847830"/>
            <a:ext cx="11209282" cy="1555682"/>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sz="1300" dirty="0"/>
              <a:t>Identifiers: Transaction ID, Customer ID.</a:t>
            </a:r>
          </a:p>
          <a:p>
            <a:pPr marL="285750" lvl="0" indent="-285750">
              <a:lnSpc>
                <a:spcPct val="150000"/>
              </a:lnSpc>
              <a:buFont typeface="Arial" panose="020B0604020202020204" pitchFamily="34" charset="0"/>
              <a:buChar char="•"/>
            </a:pPr>
            <a:r>
              <a:rPr lang="en-US" sz="1300" dirty="0" err="1"/>
              <a:t>Spatio</a:t>
            </a:r>
            <a:r>
              <a:rPr lang="en-US" sz="1300" dirty="0"/>
              <a:t> – Temporal: </a:t>
            </a:r>
            <a:r>
              <a:rPr lang="en-US" sz="1300" dirty="0" err="1"/>
              <a:t>TransactionDate</a:t>
            </a:r>
            <a:r>
              <a:rPr lang="en-US" sz="1300" dirty="0"/>
              <a:t>, Branch City, Lat/Long.</a:t>
            </a:r>
          </a:p>
          <a:p>
            <a:pPr marL="285750" lvl="0" indent="-285750">
              <a:lnSpc>
                <a:spcPct val="150000"/>
              </a:lnSpc>
              <a:buFont typeface="Arial" panose="020B0604020202020204" pitchFamily="34" charset="0"/>
              <a:buChar char="•"/>
            </a:pPr>
            <a:r>
              <a:rPr lang="en-US" sz="1300" dirty="0" err="1"/>
              <a:t>Proffiling</a:t>
            </a:r>
            <a:r>
              <a:rPr lang="en-US" sz="1300" dirty="0"/>
              <a:t>: Customer Score, Monthly Income, Customer Segment, Recommendations.</a:t>
            </a:r>
          </a:p>
          <a:p>
            <a:pPr marL="285750" lvl="0" indent="-285750">
              <a:lnSpc>
                <a:spcPct val="150000"/>
              </a:lnSpc>
              <a:buFont typeface="Arial" panose="020B0604020202020204" pitchFamily="34" charset="0"/>
              <a:buChar char="•"/>
            </a:pPr>
            <a:r>
              <a:rPr lang="en-US" sz="1300" dirty="0"/>
              <a:t>Financials: Amount, Fees (Credit/Insurance), </a:t>
            </a:r>
            <a:r>
              <a:rPr lang="en-US" sz="1300" dirty="0" err="1"/>
              <a:t>Latepayment</a:t>
            </a:r>
            <a:r>
              <a:rPr lang="en-US" sz="1300" dirty="0"/>
              <a:t>, Currency.</a:t>
            </a:r>
          </a:p>
          <a:p>
            <a:pPr marL="285750" lvl="0" indent="-285750">
              <a:lnSpc>
                <a:spcPct val="150000"/>
              </a:lnSpc>
              <a:buFont typeface="Arial" panose="020B0604020202020204" pitchFamily="34" charset="0"/>
              <a:buChar char="•"/>
            </a:pPr>
            <a:r>
              <a:rPr lang="en-US" sz="1300" dirty="0"/>
              <a:t>Behaviors/Channel: </a:t>
            </a:r>
            <a:r>
              <a:rPr lang="en-US" sz="1300" dirty="0" err="1"/>
              <a:t>TransactionType</a:t>
            </a:r>
            <a:r>
              <a:rPr lang="en-US" sz="1300" dirty="0"/>
              <a:t>, Channel, </a:t>
            </a:r>
            <a:r>
              <a:rPr lang="en-US" sz="1300" dirty="0" err="1"/>
              <a:t>ProductCategory</a:t>
            </a:r>
            <a:r>
              <a:rPr lang="en-US" sz="1300" dirty="0"/>
              <a:t>.</a:t>
            </a:r>
          </a:p>
        </p:txBody>
      </p:sp>
      <p:sp>
        <p:nvSpPr>
          <p:cNvPr id="2" name="Google Shape;147;p2">
            <a:extLst>
              <a:ext uri="{FF2B5EF4-FFF2-40B4-BE49-F238E27FC236}">
                <a16:creationId xmlns:a16="http://schemas.microsoft.com/office/drawing/2014/main" id="{25838BFB-B88F-2250-6159-6FD3E1F11AF2}"/>
              </a:ext>
            </a:extLst>
          </p:cNvPr>
          <p:cNvSpPr txBox="1">
            <a:spLocks/>
          </p:cNvSpPr>
          <p:nvPr/>
        </p:nvSpPr>
        <p:spPr>
          <a:xfrm>
            <a:off x="323733" y="2806388"/>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a:solidFill>
                  <a:schemeClr val="tx1">
                    <a:lumMod val="75000"/>
                    <a:lumOff val="25000"/>
                  </a:schemeClr>
                </a:solidFill>
                <a:latin typeface="+mj-lt"/>
              </a:rPr>
              <a:t>Data Inspection</a:t>
            </a:r>
            <a:endParaRPr lang="en-US" sz="2500" dirty="0">
              <a:solidFill>
                <a:schemeClr val="tx1">
                  <a:lumMod val="75000"/>
                  <a:lumOff val="25000"/>
                </a:schemeClr>
              </a:solidFill>
              <a:latin typeface="+mj-lt"/>
            </a:endParaRPr>
          </a:p>
        </p:txBody>
      </p:sp>
      <p:pic>
        <p:nvPicPr>
          <p:cNvPr id="3" name="Picture 2" descr="A screenshot of a computer&#10;&#10;AI-generated content may be incorrect.">
            <a:extLst>
              <a:ext uri="{FF2B5EF4-FFF2-40B4-BE49-F238E27FC236}">
                <a16:creationId xmlns:a16="http://schemas.microsoft.com/office/drawing/2014/main" id="{92ECC1EB-D5F1-02DF-9556-D7FDDB75DB0C}"/>
              </a:ext>
            </a:extLst>
          </p:cNvPr>
          <p:cNvPicPr>
            <a:picLocks noChangeAspect="1"/>
          </p:cNvPicPr>
          <p:nvPr/>
        </p:nvPicPr>
        <p:blipFill>
          <a:blip r:embed="rId4"/>
          <a:stretch>
            <a:fillRect/>
          </a:stretch>
        </p:blipFill>
        <p:spPr>
          <a:xfrm>
            <a:off x="322039" y="3607621"/>
            <a:ext cx="11507978" cy="1818408"/>
          </a:xfrm>
          <a:prstGeom prst="rect">
            <a:avLst/>
          </a:prstGeom>
        </p:spPr>
      </p:pic>
    </p:spTree>
    <p:extLst>
      <p:ext uri="{BB962C8B-B14F-4D97-AF65-F5344CB8AC3E}">
        <p14:creationId xmlns:p14="http://schemas.microsoft.com/office/powerpoint/2010/main" val="357308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F2CDAECF-44D9-71C2-F1DB-FD0EA68201A5}"/>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18132022-37B0-FCC0-39F5-62D5386529FB}"/>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4C61E723-7B19-7187-716D-8A9756A7F778}"/>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5B9E6930-D50E-288E-E9C8-5D461DC38DB7}"/>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32FF7229-A0DC-74F2-C114-D0A1158E24CF}"/>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6143D5A-FF34-7CE6-0F6F-4F503253C4BB}"/>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23B8FE9-3575-999B-F48C-CACD466D97F1}"/>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970A60F0-48B9-10EF-F7EE-1C3179FAB722}"/>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2" name="Google Shape;147;p2">
            <a:extLst>
              <a:ext uri="{FF2B5EF4-FFF2-40B4-BE49-F238E27FC236}">
                <a16:creationId xmlns:a16="http://schemas.microsoft.com/office/drawing/2014/main" id="{19574862-54BB-0DAC-3F8D-7F88551DCDB6}"/>
              </a:ext>
            </a:extLst>
          </p:cNvPr>
          <p:cNvSpPr txBox="1">
            <a:spLocks/>
          </p:cNvSpPr>
          <p:nvPr/>
        </p:nvSpPr>
        <p:spPr>
          <a:xfrm>
            <a:off x="462995" y="413200"/>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a:solidFill>
                  <a:schemeClr val="tx1">
                    <a:lumMod val="75000"/>
                    <a:lumOff val="25000"/>
                  </a:schemeClr>
                </a:solidFill>
                <a:latin typeface="+mj-lt"/>
              </a:rPr>
              <a:t>Data Inspection</a:t>
            </a:r>
            <a:endParaRPr lang="en-US" sz="2500" dirty="0">
              <a:solidFill>
                <a:schemeClr val="tx1">
                  <a:lumMod val="75000"/>
                  <a:lumOff val="25000"/>
                </a:schemeClr>
              </a:solidFill>
              <a:latin typeface="+mj-lt"/>
            </a:endParaRPr>
          </a:p>
        </p:txBody>
      </p:sp>
      <p:pic>
        <p:nvPicPr>
          <p:cNvPr id="5" name="Picture 4" descr="A screenshot of a computer&#10;&#10;AI-generated content may be incorrect.">
            <a:extLst>
              <a:ext uri="{FF2B5EF4-FFF2-40B4-BE49-F238E27FC236}">
                <a16:creationId xmlns:a16="http://schemas.microsoft.com/office/drawing/2014/main" id="{1883C8CE-446E-2FAB-BBB9-EA38B0CDC8E0}"/>
              </a:ext>
            </a:extLst>
          </p:cNvPr>
          <p:cNvPicPr>
            <a:picLocks noChangeAspect="1"/>
          </p:cNvPicPr>
          <p:nvPr/>
        </p:nvPicPr>
        <p:blipFill>
          <a:blip r:embed="rId4"/>
          <a:stretch>
            <a:fillRect/>
          </a:stretch>
        </p:blipFill>
        <p:spPr>
          <a:xfrm>
            <a:off x="5015249" y="1035099"/>
            <a:ext cx="2711450" cy="1409700"/>
          </a:xfrm>
          <a:prstGeom prst="rect">
            <a:avLst/>
          </a:prstGeom>
        </p:spPr>
      </p:pic>
      <p:pic>
        <p:nvPicPr>
          <p:cNvPr id="6" name="Picture 5" descr="A screenshot of a computer screen&#10;&#10;AI-generated content may be incorrect.">
            <a:extLst>
              <a:ext uri="{FF2B5EF4-FFF2-40B4-BE49-F238E27FC236}">
                <a16:creationId xmlns:a16="http://schemas.microsoft.com/office/drawing/2014/main" id="{99B9341F-BB7A-0D1E-13B5-DAEFD2D41BE6}"/>
              </a:ext>
            </a:extLst>
          </p:cNvPr>
          <p:cNvPicPr>
            <a:picLocks noChangeAspect="1"/>
          </p:cNvPicPr>
          <p:nvPr/>
        </p:nvPicPr>
        <p:blipFill>
          <a:blip r:embed="rId5"/>
          <a:stretch>
            <a:fillRect/>
          </a:stretch>
        </p:blipFill>
        <p:spPr>
          <a:xfrm>
            <a:off x="1112503" y="1035099"/>
            <a:ext cx="3352800" cy="5340350"/>
          </a:xfrm>
          <a:prstGeom prst="rect">
            <a:avLst/>
          </a:prstGeom>
        </p:spPr>
      </p:pic>
      <p:sp>
        <p:nvSpPr>
          <p:cNvPr id="7" name="TextBox 6">
            <a:extLst>
              <a:ext uri="{FF2B5EF4-FFF2-40B4-BE49-F238E27FC236}">
                <a16:creationId xmlns:a16="http://schemas.microsoft.com/office/drawing/2014/main" id="{48A938EC-7190-14DC-F19C-E3CBE7B405D0}"/>
              </a:ext>
            </a:extLst>
          </p:cNvPr>
          <p:cNvSpPr txBox="1"/>
          <p:nvPr/>
        </p:nvSpPr>
        <p:spPr>
          <a:xfrm>
            <a:off x="5029199" y="3310955"/>
            <a:ext cx="6407059" cy="1555682"/>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sz="1300" dirty="0"/>
              <a:t>CustomerID (8,025): Out of 20,000 transactions, there are only 8,025 unique customers.</a:t>
            </a:r>
          </a:p>
          <a:p>
            <a:pPr marL="342900" lvl="0" indent="-342900">
              <a:lnSpc>
                <a:spcPct val="150000"/>
              </a:lnSpc>
              <a:buFont typeface="Arial" panose="020B0604020202020204" pitchFamily="34" charset="0"/>
              <a:buChar char="•"/>
            </a:pPr>
            <a:r>
              <a:rPr lang="en-US" sz="1300" dirty="0" err="1"/>
              <a:t>BranchCity</a:t>
            </a:r>
            <a:r>
              <a:rPr lang="en-US" sz="1300" dirty="0"/>
              <a:t> (8): The transactions are limited to 8 cities, which matches the 8 unique coordinates (</a:t>
            </a:r>
            <a:r>
              <a:rPr lang="en-US" sz="1300" dirty="0" err="1"/>
              <a:t>BranchLat</a:t>
            </a:r>
            <a:r>
              <a:rPr lang="en-US" sz="1300" dirty="0"/>
              <a:t>/</a:t>
            </a:r>
            <a:r>
              <a:rPr lang="en-US" sz="1300" dirty="0" err="1"/>
              <a:t>BranchLong</a:t>
            </a:r>
            <a:r>
              <a:rPr lang="en-US" sz="1300" dirty="0"/>
              <a:t>). This confirms a localized geographic scope.</a:t>
            </a:r>
          </a:p>
        </p:txBody>
      </p:sp>
    </p:spTree>
    <p:extLst>
      <p:ext uri="{BB962C8B-B14F-4D97-AF65-F5344CB8AC3E}">
        <p14:creationId xmlns:p14="http://schemas.microsoft.com/office/powerpoint/2010/main" val="320979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00E4FB93-E1FF-7E45-6BD9-E83C6B731A53}"/>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33FD51AA-2CE4-17C9-55BC-32A73E8B4E36}"/>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33DFD6DD-2C00-EEB9-36DF-6D4717E74787}"/>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0F1688A3-C766-AADC-8200-9CE729232D5B}"/>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5B721F81-EC4F-E048-6D7A-2A0E2D720903}"/>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52E2A78E-D943-236E-39A0-BA08449F16AF}"/>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E61029C7-C460-C5D5-2FC7-60CAC662A289}"/>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3D20E4B2-E317-74CA-61ED-F36B68D0D57C}"/>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2" name="Google Shape;147;p2">
            <a:extLst>
              <a:ext uri="{FF2B5EF4-FFF2-40B4-BE49-F238E27FC236}">
                <a16:creationId xmlns:a16="http://schemas.microsoft.com/office/drawing/2014/main" id="{9891BE93-5B46-9187-CACC-114FA3665E6E}"/>
              </a:ext>
            </a:extLst>
          </p:cNvPr>
          <p:cNvSpPr txBox="1">
            <a:spLocks/>
          </p:cNvSpPr>
          <p:nvPr/>
        </p:nvSpPr>
        <p:spPr>
          <a:xfrm>
            <a:off x="462995" y="413200"/>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a:solidFill>
                  <a:schemeClr val="tx1">
                    <a:lumMod val="75000"/>
                    <a:lumOff val="25000"/>
                  </a:schemeClr>
                </a:solidFill>
                <a:latin typeface="+mj-lt"/>
              </a:rPr>
              <a:t>Data Inspection</a:t>
            </a:r>
            <a:endParaRPr lang="en-US" sz="2500" dirty="0">
              <a:solidFill>
                <a:schemeClr val="tx1">
                  <a:lumMod val="75000"/>
                  <a:lumOff val="25000"/>
                </a:schemeClr>
              </a:solidFill>
              <a:latin typeface="+mj-lt"/>
            </a:endParaRPr>
          </a:p>
        </p:txBody>
      </p:sp>
      <p:pic>
        <p:nvPicPr>
          <p:cNvPr id="3" name="Picture 2" descr="A screenshot of a computer&#10;&#10;AI-generated content may be incorrect.">
            <a:extLst>
              <a:ext uri="{FF2B5EF4-FFF2-40B4-BE49-F238E27FC236}">
                <a16:creationId xmlns:a16="http://schemas.microsoft.com/office/drawing/2014/main" id="{ECA37D5D-FF9B-AFB1-3CA6-3EB3EEB5237A}"/>
              </a:ext>
            </a:extLst>
          </p:cNvPr>
          <p:cNvPicPr>
            <a:picLocks noChangeAspect="1"/>
          </p:cNvPicPr>
          <p:nvPr/>
        </p:nvPicPr>
        <p:blipFill>
          <a:blip r:embed="rId4"/>
          <a:stretch>
            <a:fillRect/>
          </a:stretch>
        </p:blipFill>
        <p:spPr>
          <a:xfrm>
            <a:off x="834756" y="950808"/>
            <a:ext cx="10516415" cy="2045592"/>
          </a:xfrm>
          <a:prstGeom prst="rect">
            <a:avLst/>
          </a:prstGeom>
        </p:spPr>
      </p:pic>
      <p:sp>
        <p:nvSpPr>
          <p:cNvPr id="16" name="TextBox 15">
            <a:extLst>
              <a:ext uri="{FF2B5EF4-FFF2-40B4-BE49-F238E27FC236}">
                <a16:creationId xmlns:a16="http://schemas.microsoft.com/office/drawing/2014/main" id="{2B4F57CF-5650-F561-F072-D4E4D5DFA028}"/>
              </a:ext>
            </a:extLst>
          </p:cNvPr>
          <p:cNvSpPr txBox="1"/>
          <p:nvPr/>
        </p:nvSpPr>
        <p:spPr>
          <a:xfrm>
            <a:off x="674556" y="3275112"/>
            <a:ext cx="11257396" cy="42535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All </a:t>
            </a:r>
            <a:r>
              <a:rPr lang="en-US" dirty="0" err="1"/>
              <a:t>numerric</a:t>
            </a:r>
            <a:r>
              <a:rPr lang="en-US" dirty="0"/>
              <a:t> columns show a count of 20,000, indicating there are no missing values in these specific features.</a:t>
            </a:r>
          </a:p>
          <a:p>
            <a:pPr marL="285750" indent="-285750">
              <a:lnSpc>
                <a:spcPct val="150000"/>
              </a:lnSpc>
              <a:buFont typeface="Arial" panose="020B0604020202020204" pitchFamily="34" charset="0"/>
              <a:buChar char="•"/>
            </a:pPr>
            <a:r>
              <a:rPr lang="en-US" dirty="0"/>
              <a:t>The </a:t>
            </a:r>
            <a:r>
              <a:rPr lang="en-US" dirty="0" err="1"/>
              <a:t>TransactionDate</a:t>
            </a:r>
            <a:r>
              <a:rPr lang="en-US" dirty="0"/>
              <a:t> spans from January 1</a:t>
            </a:r>
            <a:r>
              <a:rPr lang="en-US" baseline="30000" dirty="0"/>
              <a:t>st</a:t>
            </a:r>
            <a:r>
              <a:rPr lang="en-US" dirty="0"/>
              <a:t> 2023, to May 20</a:t>
            </a:r>
            <a:r>
              <a:rPr lang="en-US" baseline="30000" dirty="0"/>
              <a:t>th</a:t>
            </a:r>
            <a:r>
              <a:rPr lang="en-US" dirty="0"/>
              <a:t> 2025, Providing over two years of data for trend analysis.</a:t>
            </a:r>
          </a:p>
          <a:p>
            <a:pPr marL="285750" indent="-285750">
              <a:lnSpc>
                <a:spcPct val="150000"/>
              </a:lnSpc>
              <a:buFont typeface="Arial" panose="020B0604020202020204" pitchFamily="34" charset="0"/>
              <a:buChar char="•"/>
            </a:pPr>
            <a:r>
              <a:rPr lang="en-US" dirty="0"/>
              <a:t>Transaction Amount: The average transaction is 5,050, but there is significant variance (std = 3,526), with values ranging from a minimum of 8.27 to a maximum of 14,895.</a:t>
            </a:r>
          </a:p>
          <a:p>
            <a:pPr marL="285750" indent="-285750">
              <a:lnSpc>
                <a:spcPct val="150000"/>
              </a:lnSpc>
              <a:buFont typeface="Arial" panose="020B0604020202020204" pitchFamily="34" charset="0"/>
              <a:buChar char="•"/>
            </a:pPr>
            <a:r>
              <a:rPr lang="en-US" dirty="0"/>
              <a:t>Fee structure: For </a:t>
            </a:r>
            <a:r>
              <a:rPr lang="en-US" dirty="0" err="1"/>
              <a:t>CreditCardFees</a:t>
            </a:r>
            <a:r>
              <a:rPr lang="en-US" dirty="0"/>
              <a:t>, </a:t>
            </a:r>
            <a:r>
              <a:rPr lang="en-US" dirty="0" err="1"/>
              <a:t>InsuranceFees</a:t>
            </a:r>
            <a:r>
              <a:rPr lang="en-US" dirty="0"/>
              <a:t>, and </a:t>
            </a:r>
            <a:r>
              <a:rPr lang="en-US" dirty="0" err="1"/>
              <a:t>LatePaymentAmount</a:t>
            </a:r>
            <a:r>
              <a:rPr lang="en-US" dirty="0"/>
              <a:t>, at least 75% of the data points are 0.00 </a:t>
            </a:r>
            <a:r>
              <a:rPr lang="en-US" dirty="0">
                <a:sym typeface="Wingdings" panose="05000000000000000000" pitchFamily="2" charset="2"/>
              </a:rPr>
              <a:t> </a:t>
            </a:r>
            <a:r>
              <a:rPr lang="en-US" dirty="0"/>
              <a:t>These fees are not applied to every transaction. They likely represent specific revenue drivers from a niche segment of users.</a:t>
            </a:r>
          </a:p>
          <a:p>
            <a:pPr marL="285750" indent="-285750">
              <a:lnSpc>
                <a:spcPct val="150000"/>
              </a:lnSpc>
              <a:buFont typeface="Arial" panose="020B0604020202020204" pitchFamily="34" charset="0"/>
              <a:buChar char="•"/>
            </a:pPr>
            <a:r>
              <a:rPr lang="en-US" dirty="0"/>
              <a:t>Monthly Income: Incomes range from 1,000 to 9,998. The proximity of the mean (5,484.95) to the median (5,473.54) indicates a balanced income distribution among the sampled customers.</a:t>
            </a:r>
          </a:p>
          <a:p>
            <a:pPr marL="285750" indent="-285750">
              <a:lnSpc>
                <a:spcPct val="150000"/>
              </a:lnSpc>
              <a:buFont typeface="Arial" panose="020B0604020202020204" pitchFamily="34" charset="0"/>
              <a:buChar char="•"/>
            </a:pPr>
            <a:r>
              <a:rPr lang="en-US" dirty="0"/>
              <a:t>The </a:t>
            </a:r>
            <a:r>
              <a:rPr lang="en-US" dirty="0" err="1"/>
              <a:t>BranchLat</a:t>
            </a:r>
            <a:r>
              <a:rPr lang="en-US" dirty="0"/>
              <a:t> and </a:t>
            </a:r>
            <a:r>
              <a:rPr lang="en-US" dirty="0" err="1"/>
              <a:t>BranchLong</a:t>
            </a:r>
            <a:r>
              <a:rPr lang="en-US" dirty="0"/>
              <a:t> variables show very low standard deviations (approx. 2.15 and 2.44). This suggests that the transactions are concentrated within a specific geographic region rather than being globally or nationally dispersed.</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98812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E83A7BBB-8426-8959-9EC9-0378CA64DB93}"/>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E1C2F957-1D4C-B9DA-EB02-CBF3D316BCF3}"/>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F6A03590-F440-607D-F7E4-828397CFD69B}"/>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F0FE0D27-E758-AC24-131A-BC2B9F9B694C}"/>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9ADC828A-9CDD-E2A4-736F-0B360A54DCA7}"/>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16FF137C-58A6-F4C6-0210-D2BCF8AFA678}"/>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F512026-2DEC-5ABE-35D7-6D73F7A5D30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E3B7CABA-9640-3E82-4BF9-70B5B9412AB1}"/>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2" name="Google Shape;147;p2">
            <a:extLst>
              <a:ext uri="{FF2B5EF4-FFF2-40B4-BE49-F238E27FC236}">
                <a16:creationId xmlns:a16="http://schemas.microsoft.com/office/drawing/2014/main" id="{B0036457-2DDB-F1B4-3740-8714F87F71BF}"/>
              </a:ext>
            </a:extLst>
          </p:cNvPr>
          <p:cNvSpPr txBox="1">
            <a:spLocks/>
          </p:cNvSpPr>
          <p:nvPr/>
        </p:nvSpPr>
        <p:spPr>
          <a:xfrm>
            <a:off x="462995" y="413200"/>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a:solidFill>
                  <a:schemeClr val="tx1">
                    <a:lumMod val="75000"/>
                    <a:lumOff val="25000"/>
                  </a:schemeClr>
                </a:solidFill>
                <a:latin typeface="+mj-lt"/>
              </a:rPr>
              <a:t>Descriptive and Statistic – Transaction Level</a:t>
            </a:r>
            <a:endParaRPr lang="en-US" sz="2500" dirty="0">
              <a:solidFill>
                <a:schemeClr val="tx1">
                  <a:lumMod val="75000"/>
                  <a:lumOff val="25000"/>
                </a:schemeClr>
              </a:solidFill>
              <a:latin typeface="+mj-lt"/>
            </a:endParaRPr>
          </a:p>
        </p:txBody>
      </p:sp>
      <p:pic>
        <p:nvPicPr>
          <p:cNvPr id="3" name="Picture 2" descr="A screenshot of a computer&#10;&#10;AI-generated content may be incorrect.">
            <a:extLst>
              <a:ext uri="{FF2B5EF4-FFF2-40B4-BE49-F238E27FC236}">
                <a16:creationId xmlns:a16="http://schemas.microsoft.com/office/drawing/2014/main" id="{BC1EFD48-F04E-6163-98CD-524CFF5828CB}"/>
              </a:ext>
            </a:extLst>
          </p:cNvPr>
          <p:cNvPicPr>
            <a:picLocks noChangeAspect="1"/>
          </p:cNvPicPr>
          <p:nvPr/>
        </p:nvPicPr>
        <p:blipFill>
          <a:blip r:embed="rId4"/>
          <a:stretch>
            <a:fillRect/>
          </a:stretch>
        </p:blipFill>
        <p:spPr>
          <a:xfrm>
            <a:off x="834756" y="950808"/>
            <a:ext cx="10516415" cy="2045592"/>
          </a:xfrm>
          <a:prstGeom prst="rect">
            <a:avLst/>
          </a:prstGeom>
        </p:spPr>
      </p:pic>
      <p:sp>
        <p:nvSpPr>
          <p:cNvPr id="16" name="TextBox 15">
            <a:extLst>
              <a:ext uri="{FF2B5EF4-FFF2-40B4-BE49-F238E27FC236}">
                <a16:creationId xmlns:a16="http://schemas.microsoft.com/office/drawing/2014/main" id="{F86750A8-0DD5-0FB6-1E48-21E13B6C844B}"/>
              </a:ext>
            </a:extLst>
          </p:cNvPr>
          <p:cNvSpPr txBox="1"/>
          <p:nvPr/>
        </p:nvSpPr>
        <p:spPr>
          <a:xfrm>
            <a:off x="674556" y="3275112"/>
            <a:ext cx="11257396" cy="42535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All </a:t>
            </a:r>
            <a:r>
              <a:rPr lang="en-US" dirty="0" err="1"/>
              <a:t>numerric</a:t>
            </a:r>
            <a:r>
              <a:rPr lang="en-US" dirty="0"/>
              <a:t> columns show a count of 20,000, indicating there are no missing values in these specific features.</a:t>
            </a:r>
          </a:p>
          <a:p>
            <a:pPr marL="285750" indent="-285750">
              <a:lnSpc>
                <a:spcPct val="150000"/>
              </a:lnSpc>
              <a:buFont typeface="Arial" panose="020B0604020202020204" pitchFamily="34" charset="0"/>
              <a:buChar char="•"/>
            </a:pPr>
            <a:r>
              <a:rPr lang="en-US" dirty="0"/>
              <a:t>The </a:t>
            </a:r>
            <a:r>
              <a:rPr lang="en-US" dirty="0" err="1"/>
              <a:t>TransactionDate</a:t>
            </a:r>
            <a:r>
              <a:rPr lang="en-US" dirty="0"/>
              <a:t> spans from January 1</a:t>
            </a:r>
            <a:r>
              <a:rPr lang="en-US" baseline="30000" dirty="0"/>
              <a:t>st</a:t>
            </a:r>
            <a:r>
              <a:rPr lang="en-US" dirty="0"/>
              <a:t> 2023, to May 20</a:t>
            </a:r>
            <a:r>
              <a:rPr lang="en-US" baseline="30000" dirty="0"/>
              <a:t>th</a:t>
            </a:r>
            <a:r>
              <a:rPr lang="en-US" dirty="0"/>
              <a:t> 2025, Providing over two years of data for trend analysis.</a:t>
            </a:r>
          </a:p>
          <a:p>
            <a:pPr marL="285750" indent="-285750">
              <a:lnSpc>
                <a:spcPct val="150000"/>
              </a:lnSpc>
              <a:buFont typeface="Arial" panose="020B0604020202020204" pitchFamily="34" charset="0"/>
              <a:buChar char="•"/>
            </a:pPr>
            <a:r>
              <a:rPr lang="en-US" dirty="0"/>
              <a:t>Transaction Amount: The average transaction is 5,050, but there is significant variance (std = 3,526), with values ranging from a minimum of 8.27 to a maximum of 14,895.</a:t>
            </a:r>
          </a:p>
          <a:p>
            <a:pPr marL="285750" indent="-285750">
              <a:lnSpc>
                <a:spcPct val="150000"/>
              </a:lnSpc>
              <a:buFont typeface="Arial" panose="020B0604020202020204" pitchFamily="34" charset="0"/>
              <a:buChar char="•"/>
            </a:pPr>
            <a:r>
              <a:rPr lang="en-US" dirty="0"/>
              <a:t>Fee structure: For </a:t>
            </a:r>
            <a:r>
              <a:rPr lang="en-US" dirty="0" err="1"/>
              <a:t>CreditCardFees</a:t>
            </a:r>
            <a:r>
              <a:rPr lang="en-US" dirty="0"/>
              <a:t>, </a:t>
            </a:r>
            <a:r>
              <a:rPr lang="en-US" dirty="0" err="1"/>
              <a:t>InsuranceFees</a:t>
            </a:r>
            <a:r>
              <a:rPr lang="en-US" dirty="0"/>
              <a:t>, and </a:t>
            </a:r>
            <a:r>
              <a:rPr lang="en-US" dirty="0" err="1"/>
              <a:t>LatePaymentAmount</a:t>
            </a:r>
            <a:r>
              <a:rPr lang="en-US" dirty="0"/>
              <a:t>, at least 75% of the data points are 0.00 </a:t>
            </a:r>
            <a:r>
              <a:rPr lang="en-US" dirty="0">
                <a:sym typeface="Wingdings" panose="05000000000000000000" pitchFamily="2" charset="2"/>
              </a:rPr>
              <a:t> </a:t>
            </a:r>
            <a:r>
              <a:rPr lang="en-US" dirty="0"/>
              <a:t>These fees are not applied to every transaction. They likely represent specific revenue drivers from a niche segment of users.</a:t>
            </a:r>
          </a:p>
          <a:p>
            <a:pPr marL="285750" indent="-285750">
              <a:lnSpc>
                <a:spcPct val="150000"/>
              </a:lnSpc>
              <a:buFont typeface="Arial" panose="020B0604020202020204" pitchFamily="34" charset="0"/>
              <a:buChar char="•"/>
            </a:pPr>
            <a:r>
              <a:rPr lang="en-US" dirty="0"/>
              <a:t>Monthly Income: Incomes range from 1,000 to 9,998. The proximity of the mean (5,484.95) to the median (5,473.54) indicates a balanced income distribution among the sampled customers.</a:t>
            </a:r>
          </a:p>
          <a:p>
            <a:pPr marL="285750" indent="-285750">
              <a:lnSpc>
                <a:spcPct val="150000"/>
              </a:lnSpc>
              <a:buFont typeface="Arial" panose="020B0604020202020204" pitchFamily="34" charset="0"/>
              <a:buChar char="•"/>
            </a:pPr>
            <a:r>
              <a:rPr lang="en-US" dirty="0"/>
              <a:t>The </a:t>
            </a:r>
            <a:r>
              <a:rPr lang="en-US" dirty="0" err="1"/>
              <a:t>BranchLat</a:t>
            </a:r>
            <a:r>
              <a:rPr lang="en-US" dirty="0"/>
              <a:t> and </a:t>
            </a:r>
            <a:r>
              <a:rPr lang="en-US" dirty="0" err="1"/>
              <a:t>BranchLong</a:t>
            </a:r>
            <a:r>
              <a:rPr lang="en-US" dirty="0"/>
              <a:t> variables show very low standard deviations (approx. 2.15 and 2.44). This suggests that the transactions are concentrated within a specific geographic region rather than being globally or nationally dispersed.</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2298801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7B8041C5-7357-F077-95D9-EF4341E0AEEC}"/>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127DF549-0AB7-C63D-98C9-463038845ACB}"/>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CE5AB0E9-6734-FD0D-E9C2-1F4CEC057AFC}"/>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7DA53B47-1E2E-2571-5EC0-25AEF5301003}"/>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225680F-F5B0-98D5-EED8-A91EBDFCD614}"/>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D3B415C-383A-4751-6731-49AFFB750BA8}"/>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EA310A5-59B8-9B87-302D-01652DF3B0F3}"/>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0572A4EB-8D2F-D454-989E-F08C1CD80B89}"/>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2" name="Google Shape;147;p2">
            <a:extLst>
              <a:ext uri="{FF2B5EF4-FFF2-40B4-BE49-F238E27FC236}">
                <a16:creationId xmlns:a16="http://schemas.microsoft.com/office/drawing/2014/main" id="{9ED1FB4C-BBE3-8989-9B25-1B7554295D93}"/>
              </a:ext>
            </a:extLst>
          </p:cNvPr>
          <p:cNvSpPr txBox="1">
            <a:spLocks/>
          </p:cNvSpPr>
          <p:nvPr/>
        </p:nvSpPr>
        <p:spPr>
          <a:xfrm>
            <a:off x="462995" y="457866"/>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err="1">
                <a:solidFill>
                  <a:schemeClr val="tx1">
                    <a:lumMod val="75000"/>
                    <a:lumOff val="25000"/>
                  </a:schemeClr>
                </a:solidFill>
                <a:latin typeface="+mj-lt"/>
              </a:rPr>
              <a:t>Unvariate</a:t>
            </a:r>
            <a:r>
              <a:rPr lang="en-IN" sz="2500" dirty="0">
                <a:solidFill>
                  <a:schemeClr val="tx1">
                    <a:lumMod val="75000"/>
                    <a:lumOff val="25000"/>
                  </a:schemeClr>
                </a:solidFill>
                <a:latin typeface="+mj-lt"/>
              </a:rPr>
              <a:t> Analysis – Transaction Level</a:t>
            </a:r>
            <a:endParaRPr lang="en-US" sz="2500" dirty="0">
              <a:solidFill>
                <a:schemeClr val="tx1">
                  <a:lumMod val="75000"/>
                  <a:lumOff val="25000"/>
                </a:schemeClr>
              </a:solidFill>
              <a:latin typeface="+mj-lt"/>
            </a:endParaRPr>
          </a:p>
        </p:txBody>
      </p:sp>
      <p:pic>
        <p:nvPicPr>
          <p:cNvPr id="8" name="Picture 7">
            <a:extLst>
              <a:ext uri="{FF2B5EF4-FFF2-40B4-BE49-F238E27FC236}">
                <a16:creationId xmlns:a16="http://schemas.microsoft.com/office/drawing/2014/main" id="{24F09F01-6A7A-BA1E-2A6A-4612FF703A96}"/>
              </a:ext>
            </a:extLst>
          </p:cNvPr>
          <p:cNvPicPr>
            <a:picLocks noChangeAspect="1"/>
          </p:cNvPicPr>
          <p:nvPr/>
        </p:nvPicPr>
        <p:blipFill>
          <a:blip r:embed="rId4"/>
          <a:stretch>
            <a:fillRect/>
          </a:stretch>
        </p:blipFill>
        <p:spPr>
          <a:xfrm>
            <a:off x="543095" y="1249800"/>
            <a:ext cx="5110115" cy="4666177"/>
          </a:xfrm>
          <a:prstGeom prst="rect">
            <a:avLst/>
          </a:prstGeom>
        </p:spPr>
      </p:pic>
      <p:sp>
        <p:nvSpPr>
          <p:cNvPr id="11" name="TextBox 10">
            <a:extLst>
              <a:ext uri="{FF2B5EF4-FFF2-40B4-BE49-F238E27FC236}">
                <a16:creationId xmlns:a16="http://schemas.microsoft.com/office/drawing/2014/main" id="{5CF40812-55E9-BA79-B180-413BB5EDD69F}"/>
              </a:ext>
            </a:extLst>
          </p:cNvPr>
          <p:cNvSpPr txBox="1"/>
          <p:nvPr/>
        </p:nvSpPr>
        <p:spPr>
          <a:xfrm>
            <a:off x="5899703" y="1687973"/>
            <a:ext cx="5906158" cy="2740302"/>
          </a:xfrm>
          <a:prstGeom prst="rect">
            <a:avLst/>
          </a:prstGeom>
          <a:noFill/>
        </p:spPr>
        <p:txBody>
          <a:bodyPr wrap="square">
            <a:spAutoFit/>
          </a:bodyPr>
          <a:lstStyle/>
          <a:p>
            <a:pPr marL="285750" marR="0" lvl="0" indent="-285750" algn="just">
              <a:lnSpc>
                <a:spcPct val="150000"/>
              </a:lnSpc>
              <a:spcAft>
                <a:spcPts val="800"/>
              </a:spcAft>
              <a:buSzPts val="1000"/>
              <a:buFont typeface="Arial" panose="020B0604020202020204" pitchFamily="34" charset="0"/>
              <a:buChar char="•"/>
              <a:tabLst>
                <a:tab pos="457200" algn="l"/>
              </a:tabLst>
            </a:pPr>
            <a:r>
              <a:rPr lang="en-US" sz="1400" kern="100" dirty="0">
                <a:effectLst/>
                <a:latin typeface="+mj-lt"/>
                <a:ea typeface="Aptos" panose="020B0004020202020204" pitchFamily="34" charset="0"/>
                <a:cs typeface="Times New Roman" panose="02020603050405020304" pitchFamily="18" charset="0"/>
              </a:rPr>
              <a:t>Credit &amp; Income Independence: A critical finding is the near-zero correlation between </a:t>
            </a:r>
            <a:r>
              <a:rPr lang="en-US" sz="1400" kern="100" dirty="0" err="1">
                <a:effectLst/>
                <a:latin typeface="+mj-lt"/>
                <a:ea typeface="Aptos" panose="020B0004020202020204" pitchFamily="34" charset="0"/>
                <a:cs typeface="Times New Roman" panose="02020603050405020304" pitchFamily="18" charset="0"/>
              </a:rPr>
              <a:t>MonthlyIncome</a:t>
            </a:r>
            <a:r>
              <a:rPr lang="en-US" sz="1400" kern="100" dirty="0">
                <a:effectLst/>
                <a:latin typeface="+mj-lt"/>
                <a:ea typeface="Aptos" panose="020B0004020202020204" pitchFamily="34" charset="0"/>
                <a:cs typeface="Times New Roman" panose="02020603050405020304" pitchFamily="18" charset="0"/>
              </a:rPr>
              <a:t> and </a:t>
            </a:r>
            <a:r>
              <a:rPr lang="en-US" sz="1400" kern="100" dirty="0" err="1">
                <a:effectLst/>
                <a:latin typeface="+mj-lt"/>
                <a:ea typeface="Aptos" panose="020B0004020202020204" pitchFamily="34" charset="0"/>
                <a:cs typeface="Times New Roman" panose="02020603050405020304" pitchFamily="18" charset="0"/>
              </a:rPr>
              <a:t>CustomerScore</a:t>
            </a:r>
            <a:r>
              <a:rPr lang="en-US" sz="1400" kern="100" dirty="0">
                <a:effectLst/>
                <a:latin typeface="+mj-lt"/>
                <a:ea typeface="Aptos" panose="020B0004020202020204" pitchFamily="34" charset="0"/>
                <a:cs typeface="Times New Roman" panose="02020603050405020304" pitchFamily="18" charset="0"/>
              </a:rPr>
              <a:t>. Higher income does not guarantee better credit behavior in this dataset. This allows the bank to decouple risk management from product scale offering high-limit products to high-income users while maintaining strict risk controls for those with low scores.</a:t>
            </a:r>
          </a:p>
          <a:p>
            <a:pPr marL="285750" marR="0" lvl="0" indent="-285750" algn="just">
              <a:lnSpc>
                <a:spcPct val="150000"/>
              </a:lnSpc>
              <a:spcAft>
                <a:spcPts val="800"/>
              </a:spcAft>
              <a:buSzPts val="1000"/>
              <a:buFont typeface="Arial" panose="020B0604020202020204" pitchFamily="34" charset="0"/>
              <a:buChar char="•"/>
              <a:tabLst>
                <a:tab pos="457200" algn="l"/>
              </a:tabLst>
            </a:pPr>
            <a:r>
              <a:rPr lang="en-US" sz="1400" kern="100" dirty="0">
                <a:effectLst/>
                <a:latin typeface="+mj-lt"/>
                <a:ea typeface="Aptos" panose="020B0004020202020204" pitchFamily="34" charset="0"/>
                <a:cs typeface="Times New Roman" panose="02020603050405020304" pitchFamily="18" charset="0"/>
              </a:rPr>
              <a:t>Late Payment Amount vs. Monthly Income ($0.00): Late payment penalties occur among both wealthy and low-income earners.</a:t>
            </a:r>
          </a:p>
        </p:txBody>
      </p:sp>
    </p:spTree>
    <p:extLst>
      <p:ext uri="{BB962C8B-B14F-4D97-AF65-F5344CB8AC3E}">
        <p14:creationId xmlns:p14="http://schemas.microsoft.com/office/powerpoint/2010/main" val="3253391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5AD1F7EB-613F-75AB-FAA6-6B87DD6BCD24}"/>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61A3F3EA-E4AE-3D2F-2439-9E6418CF1AB6}"/>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BA116BB8-0DC0-7B48-B64B-6B2019A9E6F3}"/>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AFF4E88D-D7F1-F803-6F71-A768D12C1706}"/>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E28E7562-8BAB-781D-E510-BEE9096DD494}"/>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63B9093-5862-D12F-5EEA-A295C80CC3E2}"/>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CDE6B32-4D44-2F40-9E4A-9F2E7979BD92}"/>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FB9B53BD-1DBE-7827-6782-CD0B11B8355C}"/>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2" name="Google Shape;147;p2">
            <a:extLst>
              <a:ext uri="{FF2B5EF4-FFF2-40B4-BE49-F238E27FC236}">
                <a16:creationId xmlns:a16="http://schemas.microsoft.com/office/drawing/2014/main" id="{64B013CA-FEB1-EF27-3A34-105BC33F37EC}"/>
              </a:ext>
            </a:extLst>
          </p:cNvPr>
          <p:cNvSpPr txBox="1">
            <a:spLocks/>
          </p:cNvSpPr>
          <p:nvPr/>
        </p:nvSpPr>
        <p:spPr>
          <a:xfrm>
            <a:off x="462995" y="413200"/>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a:solidFill>
                  <a:schemeClr val="tx1">
                    <a:lumMod val="75000"/>
                    <a:lumOff val="25000"/>
                  </a:schemeClr>
                </a:solidFill>
                <a:latin typeface="+mj-lt"/>
              </a:rPr>
              <a:t>Bivariate Analysis – Transaction Level</a:t>
            </a:r>
            <a:endParaRPr lang="en-US" sz="2500" dirty="0">
              <a:solidFill>
                <a:schemeClr val="tx1">
                  <a:lumMod val="75000"/>
                  <a:lumOff val="25000"/>
                </a:schemeClr>
              </a:solidFill>
              <a:latin typeface="+mj-lt"/>
            </a:endParaRPr>
          </a:p>
        </p:txBody>
      </p:sp>
      <p:sp>
        <p:nvSpPr>
          <p:cNvPr id="11" name="TextBox 10">
            <a:extLst>
              <a:ext uri="{FF2B5EF4-FFF2-40B4-BE49-F238E27FC236}">
                <a16:creationId xmlns:a16="http://schemas.microsoft.com/office/drawing/2014/main" id="{F3211BA0-D58E-9499-FF7F-BFB16AA1622B}"/>
              </a:ext>
            </a:extLst>
          </p:cNvPr>
          <p:cNvSpPr txBox="1"/>
          <p:nvPr/>
        </p:nvSpPr>
        <p:spPr>
          <a:xfrm>
            <a:off x="6221005" y="1294538"/>
            <a:ext cx="5841124" cy="4576702"/>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dirty="0"/>
              <a:t>Amount: Many transactions are small in value (a few hundred to a few thousand), and only a few are very large (over 10,000).</a:t>
            </a:r>
          </a:p>
          <a:p>
            <a:pPr marL="285750" lvl="0" indent="-285750">
              <a:lnSpc>
                <a:spcPct val="150000"/>
              </a:lnSpc>
              <a:buFont typeface="Arial" panose="020B0604020202020204" pitchFamily="34" charset="0"/>
              <a:buChar char="•"/>
            </a:pPr>
            <a:r>
              <a:rPr lang="en-US" dirty="0" err="1"/>
              <a:t>CreditCardFees</a:t>
            </a:r>
            <a:r>
              <a:rPr lang="en-US" dirty="0"/>
              <a:t>, </a:t>
            </a:r>
            <a:r>
              <a:rPr lang="en-US" dirty="0" err="1"/>
              <a:t>InsuranceFees</a:t>
            </a:r>
            <a:r>
              <a:rPr lang="en-US" dirty="0"/>
              <a:t>, </a:t>
            </a:r>
            <a:r>
              <a:rPr lang="en-US" dirty="0" err="1"/>
              <a:t>LatePaymentAmount</a:t>
            </a:r>
            <a:r>
              <a:rPr lang="en-US" dirty="0"/>
              <a:t>: The majority of customers do not incur fees (0). Only a small group customers bear these fees. This is a group of customers that brings high profit margins but whose behavior needs to be carefully monitored.</a:t>
            </a:r>
          </a:p>
          <a:p>
            <a:pPr marL="285750" lvl="0" indent="-285750">
              <a:lnSpc>
                <a:spcPct val="150000"/>
              </a:lnSpc>
              <a:buFont typeface="Arial" panose="020B0604020202020204" pitchFamily="34" charset="0"/>
              <a:buChar char="•"/>
            </a:pPr>
            <a:r>
              <a:rPr lang="en-US" dirty="0"/>
              <a:t>Customer Score: The distribution is very balanced. The majority of customers have an average credit score (around 575). This indicates that the bank's risk is being managed at a stable level, not heavily skewed towards the bad debt group or the overly safe group.</a:t>
            </a:r>
          </a:p>
          <a:p>
            <a:pPr marL="285750" lvl="0" indent="-285750">
              <a:lnSpc>
                <a:spcPct val="150000"/>
              </a:lnSpc>
              <a:buFont typeface="Arial" panose="020B0604020202020204" pitchFamily="34" charset="0"/>
              <a:buChar char="•"/>
            </a:pPr>
            <a:r>
              <a:rPr lang="en-US" dirty="0"/>
              <a:t>Monthly Income: The distribution is relatively even and flat at the top. This shows that your customer base has incomes ranging from low to high, not extremely concentrated in one particular income group.</a:t>
            </a:r>
          </a:p>
        </p:txBody>
      </p:sp>
      <p:pic>
        <p:nvPicPr>
          <p:cNvPr id="3" name="Picture 2" descr="A group of graphs showing different types of data&#10;&#10;AI-generated content may be incorrect.">
            <a:extLst>
              <a:ext uri="{FF2B5EF4-FFF2-40B4-BE49-F238E27FC236}">
                <a16:creationId xmlns:a16="http://schemas.microsoft.com/office/drawing/2014/main" id="{021E4BF9-BA1D-1F97-BC90-0FFDAE5BDED6}"/>
              </a:ext>
            </a:extLst>
          </p:cNvPr>
          <p:cNvPicPr>
            <a:picLocks noChangeAspect="1"/>
          </p:cNvPicPr>
          <p:nvPr/>
        </p:nvPicPr>
        <p:blipFill>
          <a:blip r:embed="rId4"/>
          <a:stretch>
            <a:fillRect/>
          </a:stretch>
        </p:blipFill>
        <p:spPr>
          <a:xfrm>
            <a:off x="360092" y="1252037"/>
            <a:ext cx="5778061" cy="4663109"/>
          </a:xfrm>
          <a:prstGeom prst="rect">
            <a:avLst/>
          </a:prstGeom>
        </p:spPr>
      </p:pic>
    </p:spTree>
    <p:extLst>
      <p:ext uri="{BB962C8B-B14F-4D97-AF65-F5344CB8AC3E}">
        <p14:creationId xmlns:p14="http://schemas.microsoft.com/office/powerpoint/2010/main" val="240295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4A25EA47-4728-27E7-0BAF-66AF889C3C15}"/>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C0EFE750-9BB7-1C4B-AA0A-E0E22ED225CD}"/>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DB0E31F5-E1D1-F110-C2D2-F808D21A7214}"/>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1B9E5024-93FA-940B-914A-5BB72B818F8B}"/>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40F1C1B8-C9BB-E4AE-D529-F76B8F7848F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58FE9524-61DB-5AF3-F07A-AC6825C2E6BA}"/>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663392B-6A6D-8A73-4C67-CD00FE682913}"/>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12FB420C-8A85-6780-9BE9-2CE87CDFBFF0}"/>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2" name="Google Shape;147;p2">
            <a:extLst>
              <a:ext uri="{FF2B5EF4-FFF2-40B4-BE49-F238E27FC236}">
                <a16:creationId xmlns:a16="http://schemas.microsoft.com/office/drawing/2014/main" id="{F7287CCB-5C32-2C85-B7D7-C6EB8B17120B}"/>
              </a:ext>
            </a:extLst>
          </p:cNvPr>
          <p:cNvSpPr txBox="1">
            <a:spLocks/>
          </p:cNvSpPr>
          <p:nvPr/>
        </p:nvSpPr>
        <p:spPr>
          <a:xfrm>
            <a:off x="462995" y="457866"/>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err="1">
                <a:solidFill>
                  <a:schemeClr val="tx1">
                    <a:lumMod val="75000"/>
                    <a:lumOff val="25000"/>
                  </a:schemeClr>
                </a:solidFill>
                <a:latin typeface="+mj-lt"/>
              </a:rPr>
              <a:t>Unvariate</a:t>
            </a:r>
            <a:r>
              <a:rPr lang="en-IN" sz="2500" dirty="0">
                <a:solidFill>
                  <a:schemeClr val="tx1">
                    <a:lumMod val="75000"/>
                    <a:lumOff val="25000"/>
                  </a:schemeClr>
                </a:solidFill>
                <a:latin typeface="+mj-lt"/>
              </a:rPr>
              <a:t> Analysis – Transaction Level</a:t>
            </a:r>
            <a:endParaRPr lang="en-US" sz="2500" dirty="0">
              <a:solidFill>
                <a:schemeClr val="tx1">
                  <a:lumMod val="75000"/>
                  <a:lumOff val="25000"/>
                </a:schemeClr>
              </a:solidFill>
              <a:latin typeface="+mj-lt"/>
            </a:endParaRPr>
          </a:p>
        </p:txBody>
      </p:sp>
      <p:sp>
        <p:nvSpPr>
          <p:cNvPr id="11" name="TextBox 10">
            <a:extLst>
              <a:ext uri="{FF2B5EF4-FFF2-40B4-BE49-F238E27FC236}">
                <a16:creationId xmlns:a16="http://schemas.microsoft.com/office/drawing/2014/main" id="{D79F7214-6B44-9D18-98CC-3CBF54926BEE}"/>
              </a:ext>
            </a:extLst>
          </p:cNvPr>
          <p:cNvSpPr txBox="1"/>
          <p:nvPr/>
        </p:nvSpPr>
        <p:spPr>
          <a:xfrm>
            <a:off x="6457354" y="1151200"/>
            <a:ext cx="5594247" cy="4899868"/>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dirty="0"/>
              <a:t>Mortgage and Loan products exhibit the highest median transaction amounts and the widest interquartile ranges (IQR). Conversely, Savings Account transactions are significantly smaller and more clustered. Large capital movements are concentrated in debt-related products. To increase the bank's total transaction volume, marketing efforts should prioritize these high-value categories.</a:t>
            </a:r>
          </a:p>
          <a:p>
            <a:pPr marL="285750" lvl="0" indent="-285750">
              <a:lnSpc>
                <a:spcPct val="150000"/>
              </a:lnSpc>
              <a:buFont typeface="Arial" panose="020B0604020202020204" pitchFamily="34" charset="0"/>
              <a:buChar char="•"/>
            </a:pPr>
            <a:r>
              <a:rPr lang="en-US" dirty="0"/>
              <a:t>There is a clear upward progression in transaction amounts across the offers. The Exclusive Platinum Package is associated with the highest amounts, while the No-Fee Basic Account correlates with the lowest. </a:t>
            </a:r>
          </a:p>
          <a:p>
            <a:pPr marL="285750" lvl="0" indent="-285750">
              <a:lnSpc>
                <a:spcPct val="150000"/>
              </a:lnSpc>
              <a:buFont typeface="Arial" panose="020B0604020202020204" pitchFamily="34" charset="0"/>
              <a:buChar char="•"/>
            </a:pPr>
            <a:r>
              <a:rPr lang="en-US" dirty="0"/>
              <a:t>Customers are as comfortable moving large sums via Mobile or Online as they are at a Physical Branch. This supports a "Digital-First" strategy to reduce operational costs at branches without losing transaction volume.</a:t>
            </a:r>
          </a:p>
        </p:txBody>
      </p:sp>
      <p:pic>
        <p:nvPicPr>
          <p:cNvPr id="12" name="Picture 11">
            <a:extLst>
              <a:ext uri="{FF2B5EF4-FFF2-40B4-BE49-F238E27FC236}">
                <a16:creationId xmlns:a16="http://schemas.microsoft.com/office/drawing/2014/main" id="{83D6A23A-1AC3-A67E-A25A-FADDAC266728}"/>
              </a:ext>
            </a:extLst>
          </p:cNvPr>
          <p:cNvPicPr>
            <a:picLocks noChangeAspect="1"/>
          </p:cNvPicPr>
          <p:nvPr/>
        </p:nvPicPr>
        <p:blipFill>
          <a:blip r:embed="rId4"/>
          <a:stretch>
            <a:fillRect/>
          </a:stretch>
        </p:blipFill>
        <p:spPr>
          <a:xfrm>
            <a:off x="572442" y="1320658"/>
            <a:ext cx="5594247" cy="4670718"/>
          </a:xfrm>
          <a:prstGeom prst="rect">
            <a:avLst/>
          </a:prstGeom>
        </p:spPr>
      </p:pic>
    </p:spTree>
    <p:extLst>
      <p:ext uri="{BB962C8B-B14F-4D97-AF65-F5344CB8AC3E}">
        <p14:creationId xmlns:p14="http://schemas.microsoft.com/office/powerpoint/2010/main" val="708300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25E94BC1-04F3-BAAB-286C-E7523C885978}"/>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4D508E83-4A1C-918A-0355-1E85559805C7}"/>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B62F2F68-A833-DC1D-EB63-651C1C4ED291}"/>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DE3D38D6-B540-0862-F19F-D5F37637C730}"/>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01810AC-1F46-538F-99D2-50CB850722F6}"/>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5BCF6EE-465C-C373-77B9-52DF11AB7CB5}"/>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3415AEF-80F1-E914-FB88-FA110D59D2A1}"/>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243586EB-389F-3C82-B0EB-6B00E7762F46}"/>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2" name="Google Shape;147;p2">
            <a:extLst>
              <a:ext uri="{FF2B5EF4-FFF2-40B4-BE49-F238E27FC236}">
                <a16:creationId xmlns:a16="http://schemas.microsoft.com/office/drawing/2014/main" id="{710C3859-CDDE-7F80-6EDD-C38653DE78BB}"/>
              </a:ext>
            </a:extLst>
          </p:cNvPr>
          <p:cNvSpPr txBox="1">
            <a:spLocks/>
          </p:cNvSpPr>
          <p:nvPr/>
        </p:nvSpPr>
        <p:spPr>
          <a:xfrm>
            <a:off x="462995" y="457866"/>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err="1">
                <a:solidFill>
                  <a:schemeClr val="tx1">
                    <a:lumMod val="75000"/>
                    <a:lumOff val="25000"/>
                  </a:schemeClr>
                </a:solidFill>
                <a:latin typeface="+mj-lt"/>
              </a:rPr>
              <a:t>Unvariate</a:t>
            </a:r>
            <a:r>
              <a:rPr lang="en-IN" sz="2500" dirty="0">
                <a:solidFill>
                  <a:schemeClr val="tx1">
                    <a:lumMod val="75000"/>
                    <a:lumOff val="25000"/>
                  </a:schemeClr>
                </a:solidFill>
                <a:latin typeface="+mj-lt"/>
              </a:rPr>
              <a:t> Analysis – Customer Level</a:t>
            </a:r>
            <a:endParaRPr lang="en-US" sz="2500" dirty="0">
              <a:solidFill>
                <a:schemeClr val="tx1">
                  <a:lumMod val="75000"/>
                  <a:lumOff val="25000"/>
                </a:schemeClr>
              </a:solidFill>
              <a:latin typeface="+mj-lt"/>
            </a:endParaRPr>
          </a:p>
        </p:txBody>
      </p:sp>
      <p:sp>
        <p:nvSpPr>
          <p:cNvPr id="11" name="TextBox 10">
            <a:extLst>
              <a:ext uri="{FF2B5EF4-FFF2-40B4-BE49-F238E27FC236}">
                <a16:creationId xmlns:a16="http://schemas.microsoft.com/office/drawing/2014/main" id="{D576A5B1-EB31-1365-76E1-CE7989FD1F51}"/>
              </a:ext>
            </a:extLst>
          </p:cNvPr>
          <p:cNvSpPr txBox="1"/>
          <p:nvPr/>
        </p:nvSpPr>
        <p:spPr>
          <a:xfrm>
            <a:off x="5940221" y="1661494"/>
            <a:ext cx="5906158" cy="2960875"/>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dirty="0"/>
              <a:t>Engagement customer: if the customer uses more channels, they use more products and transact in more cities.</a:t>
            </a:r>
          </a:p>
          <a:p>
            <a:pPr marL="285750" lvl="0" indent="-285750">
              <a:lnSpc>
                <a:spcPct val="150000"/>
              </a:lnSpc>
              <a:buFont typeface="Arial" panose="020B0604020202020204" pitchFamily="34" charset="0"/>
              <a:buChar char="•"/>
            </a:pPr>
            <a:r>
              <a:rPr lang="en-US" dirty="0"/>
              <a:t>Total transactions vs total amount: Total spending volume is driven primarily by frequency, not necessarily by the size of individual transactions. The more often a customer uses the bank, the higher their total lifetime value.</a:t>
            </a:r>
          </a:p>
          <a:p>
            <a:pPr marL="285750" lvl="0" indent="-285750">
              <a:lnSpc>
                <a:spcPct val="150000"/>
              </a:lnSpc>
              <a:buFont typeface="Arial" panose="020B0604020202020204" pitchFamily="34" charset="0"/>
              <a:buChar char="•"/>
            </a:pPr>
            <a:r>
              <a:rPr lang="en-US" dirty="0"/>
              <a:t>Total transactions vs total fees: This suggests that fee revenue is also dependent on specific behaviors (like late payments or insurance purchases) rather than just raw volume.</a:t>
            </a:r>
          </a:p>
        </p:txBody>
      </p:sp>
      <p:pic>
        <p:nvPicPr>
          <p:cNvPr id="6" name="Picture 5">
            <a:extLst>
              <a:ext uri="{FF2B5EF4-FFF2-40B4-BE49-F238E27FC236}">
                <a16:creationId xmlns:a16="http://schemas.microsoft.com/office/drawing/2014/main" id="{FA30731D-250B-2472-C106-F6D2E04730A6}"/>
              </a:ext>
            </a:extLst>
          </p:cNvPr>
          <p:cNvPicPr>
            <a:picLocks noChangeAspect="1"/>
          </p:cNvPicPr>
          <p:nvPr/>
        </p:nvPicPr>
        <p:blipFill>
          <a:blip r:embed="rId4"/>
          <a:stretch>
            <a:fillRect/>
          </a:stretch>
        </p:blipFill>
        <p:spPr>
          <a:xfrm>
            <a:off x="624471" y="1130075"/>
            <a:ext cx="5226742" cy="4775296"/>
          </a:xfrm>
          <a:prstGeom prst="rect">
            <a:avLst/>
          </a:prstGeom>
        </p:spPr>
      </p:pic>
    </p:spTree>
    <p:extLst>
      <p:ext uri="{BB962C8B-B14F-4D97-AF65-F5344CB8AC3E}">
        <p14:creationId xmlns:p14="http://schemas.microsoft.com/office/powerpoint/2010/main" val="2816889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a:extLst>
            <a:ext uri="{FF2B5EF4-FFF2-40B4-BE49-F238E27FC236}">
              <a16:creationId xmlns:a16="http://schemas.microsoft.com/office/drawing/2014/main" id="{07AEB2E8-6839-D669-CA0E-BFF84A1FD45B}"/>
            </a:ext>
          </a:extLst>
        </p:cNvPr>
        <p:cNvGrpSpPr/>
        <p:nvPr/>
      </p:nvGrpSpPr>
      <p:grpSpPr>
        <a:xfrm>
          <a:off x="0" y="0"/>
          <a:ext cx="0" cy="0"/>
          <a:chOff x="0" y="0"/>
          <a:chExt cx="0" cy="0"/>
        </a:xfrm>
      </p:grpSpPr>
      <p:sp>
        <p:nvSpPr>
          <p:cNvPr id="197" name="Google Shape;197;g21197e7cf6e_0_37">
            <a:extLst>
              <a:ext uri="{FF2B5EF4-FFF2-40B4-BE49-F238E27FC236}">
                <a16:creationId xmlns:a16="http://schemas.microsoft.com/office/drawing/2014/main" id="{7E7D69BD-13BB-E379-A859-410175AD6342}"/>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a:extLst>
              <a:ext uri="{FF2B5EF4-FFF2-40B4-BE49-F238E27FC236}">
                <a16:creationId xmlns:a16="http://schemas.microsoft.com/office/drawing/2014/main" id="{21145499-D750-0638-6024-0B472FFA9388}"/>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a:extLst>
              <a:ext uri="{FF2B5EF4-FFF2-40B4-BE49-F238E27FC236}">
                <a16:creationId xmlns:a16="http://schemas.microsoft.com/office/drawing/2014/main" id="{6241DB16-1BD7-F97B-9635-320C32C2DD79}"/>
              </a:ext>
            </a:extLst>
          </p:cNvPr>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B51044AA-7E68-FDDF-95F6-E2080EA3A7CA}"/>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C637AFB8-AC62-5584-84EF-11DB48ACE5D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ECB2508-78EB-C0E5-1272-54F4037C7955}"/>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084A63B3-35FE-0017-2C69-0A7AA5BDC99D}"/>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2" name="Google Shape;147;p2">
            <a:extLst>
              <a:ext uri="{FF2B5EF4-FFF2-40B4-BE49-F238E27FC236}">
                <a16:creationId xmlns:a16="http://schemas.microsoft.com/office/drawing/2014/main" id="{8D912293-459E-8E21-7CDF-DE5E34AF80B6}"/>
              </a:ext>
            </a:extLst>
          </p:cNvPr>
          <p:cNvSpPr txBox="1">
            <a:spLocks/>
          </p:cNvSpPr>
          <p:nvPr/>
        </p:nvSpPr>
        <p:spPr>
          <a:xfrm>
            <a:off x="462995" y="457866"/>
            <a:ext cx="10014457" cy="3847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500" dirty="0" err="1">
                <a:solidFill>
                  <a:schemeClr val="tx1">
                    <a:lumMod val="75000"/>
                    <a:lumOff val="25000"/>
                  </a:schemeClr>
                </a:solidFill>
                <a:latin typeface="+mj-lt"/>
              </a:rPr>
              <a:t>Unvariate</a:t>
            </a:r>
            <a:r>
              <a:rPr lang="en-IN" sz="2500" dirty="0">
                <a:solidFill>
                  <a:schemeClr val="tx1">
                    <a:lumMod val="75000"/>
                    <a:lumOff val="25000"/>
                  </a:schemeClr>
                </a:solidFill>
                <a:latin typeface="+mj-lt"/>
              </a:rPr>
              <a:t> Analysis – Customer Level</a:t>
            </a:r>
            <a:endParaRPr lang="en-US" sz="2500" dirty="0">
              <a:solidFill>
                <a:schemeClr val="tx1">
                  <a:lumMod val="75000"/>
                  <a:lumOff val="25000"/>
                </a:schemeClr>
              </a:solidFill>
              <a:latin typeface="+mj-lt"/>
            </a:endParaRPr>
          </a:p>
        </p:txBody>
      </p:sp>
      <p:pic>
        <p:nvPicPr>
          <p:cNvPr id="7" name="Picture 6">
            <a:extLst>
              <a:ext uri="{FF2B5EF4-FFF2-40B4-BE49-F238E27FC236}">
                <a16:creationId xmlns:a16="http://schemas.microsoft.com/office/drawing/2014/main" id="{97B7C524-82B1-D733-DE1D-804B12998386}"/>
              </a:ext>
            </a:extLst>
          </p:cNvPr>
          <p:cNvPicPr>
            <a:picLocks noChangeAspect="1"/>
          </p:cNvPicPr>
          <p:nvPr/>
        </p:nvPicPr>
        <p:blipFill>
          <a:blip r:embed="rId4"/>
          <a:stretch>
            <a:fillRect/>
          </a:stretch>
        </p:blipFill>
        <p:spPr>
          <a:xfrm>
            <a:off x="462995" y="1198644"/>
            <a:ext cx="6032558" cy="5059381"/>
          </a:xfrm>
          <a:prstGeom prst="rect">
            <a:avLst/>
          </a:prstGeom>
        </p:spPr>
      </p:pic>
      <p:sp>
        <p:nvSpPr>
          <p:cNvPr id="10" name="TextBox 9">
            <a:extLst>
              <a:ext uri="{FF2B5EF4-FFF2-40B4-BE49-F238E27FC236}">
                <a16:creationId xmlns:a16="http://schemas.microsoft.com/office/drawing/2014/main" id="{385DC53D-CA25-63E9-D993-8922CC55ABB4}"/>
              </a:ext>
            </a:extLst>
          </p:cNvPr>
          <p:cNvSpPr txBox="1"/>
          <p:nvPr/>
        </p:nvSpPr>
        <p:spPr>
          <a:xfrm>
            <a:off x="6558455" y="775391"/>
            <a:ext cx="5167306" cy="6177140"/>
          </a:xfrm>
          <a:prstGeom prst="rect">
            <a:avLst/>
          </a:prstGeom>
          <a:noFill/>
        </p:spPr>
        <p:txBody>
          <a:bodyPr wrap="square">
            <a:spAutoFit/>
          </a:bodyPr>
          <a:lstStyle/>
          <a:p>
            <a:pPr marL="285750" marR="0" lvl="0" indent="-285750" algn="just">
              <a:lnSpc>
                <a:spcPct val="150000"/>
              </a:lnSpc>
              <a:spcAft>
                <a:spcPts val="800"/>
              </a:spcAft>
              <a:buSzPts val="1000"/>
              <a:buFont typeface="Arial" panose="020B0604020202020204" pitchFamily="34" charset="0"/>
              <a:buChar char="•"/>
              <a:tabLst>
                <a:tab pos="457200" algn="l"/>
              </a:tabLst>
            </a:pPr>
            <a:r>
              <a:rPr lang="en-US" sz="1400" kern="100" dirty="0">
                <a:effectLst/>
                <a:latin typeface="+mj-lt"/>
                <a:ea typeface="Aptos" panose="020B0004020202020204" pitchFamily="34" charset="0"/>
                <a:cs typeface="Times New Roman" panose="02020603050405020304" pitchFamily="18" charset="0"/>
              </a:rPr>
              <a:t>Total Transactions: The median is 2 transactions, with most customers falling between 1 and 3. However, there are significant outliers reaching up to 11. These outliers represent your "Power Users."</a:t>
            </a:r>
          </a:p>
          <a:p>
            <a:pPr marL="285750" marR="0" lvl="0" indent="-285750" algn="just">
              <a:lnSpc>
                <a:spcPct val="150000"/>
              </a:lnSpc>
              <a:spcAft>
                <a:spcPts val="800"/>
              </a:spcAft>
              <a:buSzPts val="1000"/>
              <a:buFont typeface="Arial" panose="020B0604020202020204" pitchFamily="34" charset="0"/>
              <a:buChar char="•"/>
              <a:tabLst>
                <a:tab pos="457200" algn="l"/>
              </a:tabLst>
            </a:pPr>
            <a:r>
              <a:rPr lang="en-US" sz="1400" kern="100" dirty="0">
                <a:effectLst/>
                <a:latin typeface="+mj-lt"/>
                <a:ea typeface="Aptos" panose="020B0004020202020204" pitchFamily="34" charset="0"/>
                <a:cs typeface="Times New Roman" panose="02020603050405020304" pitchFamily="18" charset="0"/>
              </a:rPr>
              <a:t>Product &amp; City Reach: Most customers use 2 products and visit 2 cities. The spread for </a:t>
            </a:r>
            <a:r>
              <a:rPr lang="en-US" sz="1400" kern="100" dirty="0" err="1">
                <a:effectLst/>
                <a:latin typeface="+mj-lt"/>
                <a:ea typeface="Aptos" panose="020B0004020202020204" pitchFamily="34" charset="0"/>
                <a:cs typeface="Times New Roman" panose="02020603050405020304" pitchFamily="18" charset="0"/>
              </a:rPr>
              <a:t>Total_Products</a:t>
            </a:r>
            <a:r>
              <a:rPr lang="en-US" sz="1400" kern="100" dirty="0">
                <a:effectLst/>
                <a:latin typeface="+mj-lt"/>
                <a:ea typeface="Aptos" panose="020B0004020202020204" pitchFamily="34" charset="0"/>
                <a:cs typeface="Times New Roman" panose="02020603050405020304" pitchFamily="18" charset="0"/>
              </a:rPr>
              <a:t> is very tight, suggesting that the bank successfully moves customers past a single-product relationship quickly.</a:t>
            </a:r>
          </a:p>
          <a:p>
            <a:pPr marL="285750" marR="0" lvl="0" indent="-285750" algn="just">
              <a:lnSpc>
                <a:spcPct val="150000"/>
              </a:lnSpc>
              <a:spcAft>
                <a:spcPts val="800"/>
              </a:spcAft>
              <a:buSzPts val="1000"/>
              <a:buFont typeface="Arial" panose="020B0604020202020204" pitchFamily="34" charset="0"/>
              <a:buChar char="•"/>
              <a:tabLst>
                <a:tab pos="457200" algn="l"/>
              </a:tabLst>
            </a:pPr>
            <a:r>
              <a:rPr lang="en-US" sz="1400" kern="100" dirty="0">
                <a:effectLst/>
                <a:latin typeface="+mj-lt"/>
                <a:ea typeface="Aptos" panose="020B0004020202020204" pitchFamily="34" charset="0"/>
                <a:cs typeface="Times New Roman" panose="02020603050405020304" pitchFamily="18" charset="0"/>
              </a:rPr>
              <a:t>Total Channels: The median is 2 channels, but there is a clear outlier at 4. This represents the small elite group of "True Omnichannel" customers who use every available touchpoint.</a:t>
            </a:r>
          </a:p>
          <a:p>
            <a:pPr marL="285750" lvl="0" indent="-285750">
              <a:lnSpc>
                <a:spcPct val="150000"/>
              </a:lnSpc>
              <a:buFont typeface="Arial" panose="020B0604020202020204" pitchFamily="34" charset="0"/>
              <a:buChar char="•"/>
            </a:pPr>
            <a:r>
              <a:rPr lang="en-US" dirty="0">
                <a:latin typeface="+mj-lt"/>
              </a:rPr>
              <a:t>Total Amount: The data shows a massive concentration at the lower end (median ~$10k) but a very long tail of outliers extending beyond $60k.</a:t>
            </a:r>
          </a:p>
          <a:p>
            <a:pPr marL="285750" lvl="0" indent="-285750">
              <a:lnSpc>
                <a:spcPct val="150000"/>
              </a:lnSpc>
              <a:buFont typeface="Arial" panose="020B0604020202020204" pitchFamily="34" charset="0"/>
              <a:buChar char="•"/>
            </a:pPr>
            <a:r>
              <a:rPr lang="en-US" dirty="0">
                <a:latin typeface="+mj-lt"/>
              </a:rPr>
              <a:t>Total Fees: This chart is the most skewed. The median is low, but the outliers are numerous and reach up to $776</a:t>
            </a:r>
          </a:p>
          <a:p>
            <a:pPr marL="342900" marR="0" lvl="0" indent="-342900" algn="just">
              <a:lnSpc>
                <a:spcPct val="150000"/>
              </a:lnSpc>
              <a:spcAft>
                <a:spcPts val="800"/>
              </a:spcAft>
              <a:buSzPts val="1000"/>
              <a:buFont typeface="Wingdings" panose="05000000000000000000" pitchFamily="2" charset="2"/>
              <a:buChar char=""/>
              <a:tabLst>
                <a:tab pos="457200" algn="l"/>
              </a:tabLst>
            </a:pPr>
            <a:endParaRPr lang="en-US" sz="1400" kern="100" dirty="0">
              <a:effectLst/>
              <a:latin typeface="+mj-l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30922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Charts &amp; Insights</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20" name="TextBox 19">
            <a:extLst>
              <a:ext uri="{FF2B5EF4-FFF2-40B4-BE49-F238E27FC236}">
                <a16:creationId xmlns:a16="http://schemas.microsoft.com/office/drawing/2014/main" id="{C2549B77-156B-41C4-7B39-BB8391350BCF}"/>
              </a:ext>
            </a:extLst>
          </p:cNvPr>
          <p:cNvSpPr txBox="1"/>
          <p:nvPr/>
        </p:nvSpPr>
        <p:spPr>
          <a:xfrm>
            <a:off x="665344" y="3485483"/>
            <a:ext cx="10861311" cy="3656257"/>
          </a:xfrm>
          <a:prstGeom prst="rect">
            <a:avLst/>
          </a:prstGeom>
          <a:noFill/>
        </p:spPr>
        <p:txBody>
          <a:bodyPr wrap="square" rtlCol="0">
            <a:spAutoFit/>
          </a:bodyPr>
          <a:lstStyle/>
          <a:p>
            <a:pPr>
              <a:lnSpc>
                <a:spcPct val="150000"/>
              </a:lnSpc>
            </a:pPr>
            <a:r>
              <a:rPr lang="en-US" sz="1300" dirty="0"/>
              <a:t>Overall Business Performance</a:t>
            </a:r>
          </a:p>
          <a:p>
            <a:pPr marL="285750" indent="-285750">
              <a:lnSpc>
                <a:spcPct val="150000"/>
              </a:lnSpc>
              <a:buFont typeface="Arial" panose="020B0604020202020204" pitchFamily="34" charset="0"/>
              <a:buChar char="•"/>
            </a:pPr>
            <a:r>
              <a:rPr lang="en-US" sz="1300" dirty="0"/>
              <a:t>Monthly transaction amounts remain relatively stable throughout the observed, fluctuating between approximately 3.1M and 3.8M.</a:t>
            </a:r>
          </a:p>
          <a:p>
            <a:pPr marL="285750" indent="-285750">
              <a:lnSpc>
                <a:spcPct val="150000"/>
              </a:lnSpc>
              <a:buFont typeface="Arial" panose="020B0604020202020204" pitchFamily="34" charset="0"/>
              <a:buChar char="•"/>
            </a:pPr>
            <a:r>
              <a:rPr lang="en-US" sz="1300" dirty="0"/>
              <a:t>Transaction Amounts are right-skewed, indicating that most customers contribute relatively small transaction values, while a small group of high-value customers generates a disproportionate share of the total amount.</a:t>
            </a:r>
          </a:p>
          <a:p>
            <a:pPr marL="285750" indent="-285750">
              <a:lnSpc>
                <a:spcPct val="150000"/>
              </a:lnSpc>
              <a:buFont typeface="Arial" panose="020B0604020202020204" pitchFamily="34" charset="0"/>
              <a:buChar char="•"/>
            </a:pPr>
            <a:r>
              <a:rPr lang="en-US" sz="1300" dirty="0"/>
              <a:t>This suggest the presence of high-value customer segments that should be prioritize for retention.</a:t>
            </a:r>
          </a:p>
          <a:p>
            <a:pPr marL="285750" indent="-285750">
              <a:lnSpc>
                <a:spcPct val="150000"/>
              </a:lnSpc>
              <a:buFont typeface="Arial" panose="020B0604020202020204" pitchFamily="34" charset="0"/>
              <a:buChar char="•"/>
            </a:pPr>
            <a:r>
              <a:rPr lang="en-US" sz="1300" dirty="0"/>
              <a:t>Middle Income customer contribute the largest share of transaction value (68.3M), accounting for roughly two-thirds of the total transaction amount.</a:t>
            </a:r>
          </a:p>
          <a:p>
            <a:pPr marL="285750" indent="-285750">
              <a:lnSpc>
                <a:spcPct val="150000"/>
              </a:lnSpc>
              <a:buFont typeface="Arial" panose="020B0604020202020204" pitchFamily="34" charset="0"/>
              <a:buChar char="•"/>
            </a:pPr>
            <a:r>
              <a:rPr lang="en-US" sz="1300" dirty="0"/>
              <a:t>High Income and Low Income customers contribute similar transaction volumes, highlighting the importance of the middle income segment to overall business performance.</a:t>
            </a:r>
          </a:p>
          <a:p>
            <a:pPr marL="285750" indent="-285750">
              <a:lnSpc>
                <a:spcPct val="150000"/>
              </a:lnSpc>
              <a:buFont typeface="Arial" panose="020B0604020202020204" pitchFamily="34" charset="0"/>
              <a:buChar char="•"/>
            </a:pPr>
            <a:endParaRPr lang="en-US" sz="1300" dirty="0"/>
          </a:p>
          <a:p>
            <a:pPr>
              <a:lnSpc>
                <a:spcPct val="150000"/>
              </a:lnSpc>
            </a:pPr>
            <a:endParaRPr lang="en-US" sz="1300" dirty="0"/>
          </a:p>
          <a:p>
            <a:pPr>
              <a:lnSpc>
                <a:spcPct val="150000"/>
              </a:lnSpc>
            </a:pPr>
            <a:endParaRPr lang="en-US" sz="1300" dirty="0"/>
          </a:p>
        </p:txBody>
      </p:sp>
      <p:pic>
        <p:nvPicPr>
          <p:cNvPr id="26" name="Picture 25">
            <a:extLst>
              <a:ext uri="{FF2B5EF4-FFF2-40B4-BE49-F238E27FC236}">
                <a16:creationId xmlns:a16="http://schemas.microsoft.com/office/drawing/2014/main" id="{E07D0653-58AC-A19F-6D59-8A1C45074A89}"/>
              </a:ext>
            </a:extLst>
          </p:cNvPr>
          <p:cNvPicPr>
            <a:picLocks noChangeAspect="1"/>
          </p:cNvPicPr>
          <p:nvPr/>
        </p:nvPicPr>
        <p:blipFill>
          <a:blip r:embed="rId3"/>
          <a:stretch>
            <a:fillRect/>
          </a:stretch>
        </p:blipFill>
        <p:spPr>
          <a:xfrm>
            <a:off x="1106778" y="621354"/>
            <a:ext cx="9522371" cy="2956312"/>
          </a:xfrm>
          <a:prstGeom prst="rect">
            <a:avLst/>
          </a:prstGeom>
        </p:spPr>
      </p:pic>
      <p:sp>
        <p:nvSpPr>
          <p:cNvPr id="3" name="TextBox 2">
            <a:extLst>
              <a:ext uri="{FF2B5EF4-FFF2-40B4-BE49-F238E27FC236}">
                <a16:creationId xmlns:a16="http://schemas.microsoft.com/office/drawing/2014/main" id="{F5CF1054-50D6-E634-AFA9-CE27FDA7F865}"/>
              </a:ext>
            </a:extLst>
          </p:cNvPr>
          <p:cNvSpPr txBox="1"/>
          <p:nvPr/>
        </p:nvSpPr>
        <p:spPr>
          <a:xfrm>
            <a:off x="543095" y="236483"/>
            <a:ext cx="5006367" cy="477054"/>
          </a:xfrm>
          <a:prstGeom prst="rect">
            <a:avLst/>
          </a:prstGeom>
          <a:noFill/>
        </p:spPr>
        <p:txBody>
          <a:bodyPr wrap="square" rtlCol="0">
            <a:spAutoFit/>
          </a:bodyPr>
          <a:lstStyle/>
          <a:p>
            <a:r>
              <a:rPr lang="en-US" sz="2500" b="1" dirty="0"/>
              <a:t>Overview</a:t>
            </a:r>
          </a:p>
        </p:txBody>
      </p:sp>
    </p:spTree>
    <p:extLst>
      <p:ext uri="{BB962C8B-B14F-4D97-AF65-F5344CB8AC3E}">
        <p14:creationId xmlns:p14="http://schemas.microsoft.com/office/powerpoint/2010/main" val="2342008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783F5964-6E73-B997-4FAE-D45EDDF21D89}"/>
            </a:ext>
          </a:extLst>
        </p:cNvPr>
        <p:cNvGrpSpPr/>
        <p:nvPr/>
      </p:nvGrpSpPr>
      <p:grpSpPr>
        <a:xfrm>
          <a:off x="0" y="0"/>
          <a:ext cx="0" cy="0"/>
          <a:chOff x="0" y="0"/>
          <a:chExt cx="0" cy="0"/>
        </a:xfrm>
      </p:grpSpPr>
      <p:sp>
        <p:nvSpPr>
          <p:cNvPr id="250" name="Google Shape;250;g21197e7cf6e_0_97">
            <a:extLst>
              <a:ext uri="{FF2B5EF4-FFF2-40B4-BE49-F238E27FC236}">
                <a16:creationId xmlns:a16="http://schemas.microsoft.com/office/drawing/2014/main" id="{D250C6D4-4931-9499-6318-D814E6587E65}"/>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253" name="Google Shape;253;g21197e7cf6e_0_97">
            <a:extLst>
              <a:ext uri="{FF2B5EF4-FFF2-40B4-BE49-F238E27FC236}">
                <a16:creationId xmlns:a16="http://schemas.microsoft.com/office/drawing/2014/main" id="{EFF1A899-F0BA-2BBA-4B62-E941FCADACCC}"/>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4ADC427C-C1E8-6070-80E9-649C6B27844F}"/>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20" name="TextBox 19">
            <a:extLst>
              <a:ext uri="{FF2B5EF4-FFF2-40B4-BE49-F238E27FC236}">
                <a16:creationId xmlns:a16="http://schemas.microsoft.com/office/drawing/2014/main" id="{934C1789-6E66-5312-2BE2-2CC417322612}"/>
              </a:ext>
            </a:extLst>
          </p:cNvPr>
          <p:cNvSpPr txBox="1"/>
          <p:nvPr/>
        </p:nvSpPr>
        <p:spPr>
          <a:xfrm>
            <a:off x="462995" y="3515711"/>
            <a:ext cx="11315119" cy="395633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300" dirty="0" err="1"/>
              <a:t>Mortage</a:t>
            </a:r>
            <a:r>
              <a:rPr lang="en-US" sz="1300" dirty="0"/>
              <a:t> is the highest – performing product category(30.3M), followed by Loan (25.3M) and Credit Card (20.2M).</a:t>
            </a:r>
          </a:p>
          <a:p>
            <a:pPr marL="285750" indent="-285750">
              <a:lnSpc>
                <a:spcPct val="150000"/>
              </a:lnSpc>
              <a:buFont typeface="Arial" panose="020B0604020202020204" pitchFamily="34" charset="0"/>
              <a:buChar char="•"/>
            </a:pPr>
            <a:r>
              <a:rPr lang="en-US" sz="1300" dirty="0"/>
              <a:t>Saving and checking accounts generate lower transaction values, reflecting their primary role as deposit products rather high value transaction products.</a:t>
            </a:r>
          </a:p>
          <a:p>
            <a:pPr marL="285750" indent="-285750">
              <a:lnSpc>
                <a:spcPct val="150000"/>
              </a:lnSpc>
              <a:buFont typeface="Arial" panose="020B0604020202020204" pitchFamily="34" charset="0"/>
              <a:buChar char="•"/>
            </a:pPr>
            <a:r>
              <a:rPr lang="en-US" sz="1300" dirty="0"/>
              <a:t>Transaction values are evenly distributed across all transaction types, with no single type dominating the portfolio.</a:t>
            </a:r>
          </a:p>
          <a:p>
            <a:pPr marL="285750" indent="-285750">
              <a:lnSpc>
                <a:spcPct val="150000"/>
              </a:lnSpc>
              <a:buFont typeface="Arial" panose="020B0604020202020204" pitchFamily="34" charset="0"/>
              <a:buChar char="•"/>
            </a:pPr>
            <a:r>
              <a:rPr lang="en-US" sz="1300" dirty="0"/>
              <a:t>‘This balanced distribution indicates diversified customer banking activities across deposits, withdrawals, transfers, loan payments, card payments, and fees.</a:t>
            </a:r>
          </a:p>
          <a:p>
            <a:pPr marL="285750" indent="-285750">
              <a:lnSpc>
                <a:spcPct val="150000"/>
              </a:lnSpc>
              <a:buFont typeface="Arial" panose="020B0604020202020204" pitchFamily="34" charset="0"/>
              <a:buChar char="•"/>
            </a:pPr>
            <a:r>
              <a:rPr lang="en-US" sz="1300" dirty="0"/>
              <a:t>Mobile banking records the highest transaction value (26.1M), followed closely by Branch, ATM and Online Channels.</a:t>
            </a:r>
          </a:p>
          <a:p>
            <a:pPr marL="285750" indent="-285750">
              <a:lnSpc>
                <a:spcPct val="150000"/>
              </a:lnSpc>
              <a:buFont typeface="Arial" panose="020B0604020202020204" pitchFamily="34" charset="0"/>
              <a:buChar char="•"/>
            </a:pPr>
            <a:r>
              <a:rPr lang="en-US" sz="1300" dirty="0"/>
              <a:t>The relatively balanced distribution across channels suggests customers actively use multiple banking channels, while Mobile Banking has become the preferred transaction channel.</a:t>
            </a:r>
          </a:p>
          <a:p>
            <a:pPr marL="285750" indent="-285750">
              <a:lnSpc>
                <a:spcPct val="150000"/>
              </a:lnSpc>
              <a:buFont typeface="Arial" panose="020B0604020202020204" pitchFamily="34" charset="0"/>
              <a:buChar char="•"/>
            </a:pPr>
            <a:endParaRPr lang="en-US" sz="1300" dirty="0"/>
          </a:p>
          <a:p>
            <a:pPr marL="285750" indent="-285750">
              <a:lnSpc>
                <a:spcPct val="150000"/>
              </a:lnSpc>
              <a:buFont typeface="Arial" panose="020B0604020202020204" pitchFamily="34" charset="0"/>
              <a:buChar char="•"/>
            </a:pPr>
            <a:endParaRPr lang="en-US" sz="1300" dirty="0"/>
          </a:p>
          <a:p>
            <a:pPr>
              <a:lnSpc>
                <a:spcPct val="150000"/>
              </a:lnSpc>
            </a:pPr>
            <a:endParaRPr lang="en-US" sz="1300" dirty="0"/>
          </a:p>
          <a:p>
            <a:pPr>
              <a:lnSpc>
                <a:spcPct val="150000"/>
              </a:lnSpc>
            </a:pPr>
            <a:endParaRPr lang="en-US" sz="1300" dirty="0"/>
          </a:p>
        </p:txBody>
      </p:sp>
      <p:pic>
        <p:nvPicPr>
          <p:cNvPr id="3" name="Picture 2">
            <a:extLst>
              <a:ext uri="{FF2B5EF4-FFF2-40B4-BE49-F238E27FC236}">
                <a16:creationId xmlns:a16="http://schemas.microsoft.com/office/drawing/2014/main" id="{1E7C841C-45D2-321D-BA71-E565859B3A63}"/>
              </a:ext>
            </a:extLst>
          </p:cNvPr>
          <p:cNvPicPr>
            <a:picLocks noChangeAspect="1"/>
          </p:cNvPicPr>
          <p:nvPr/>
        </p:nvPicPr>
        <p:blipFill>
          <a:blip r:embed="rId3"/>
          <a:stretch>
            <a:fillRect/>
          </a:stretch>
        </p:blipFill>
        <p:spPr>
          <a:xfrm>
            <a:off x="1694791" y="857642"/>
            <a:ext cx="8617197" cy="2658069"/>
          </a:xfrm>
          <a:prstGeom prst="rect">
            <a:avLst/>
          </a:prstGeom>
        </p:spPr>
      </p:pic>
      <p:sp>
        <p:nvSpPr>
          <p:cNvPr id="5" name="TextBox 4">
            <a:extLst>
              <a:ext uri="{FF2B5EF4-FFF2-40B4-BE49-F238E27FC236}">
                <a16:creationId xmlns:a16="http://schemas.microsoft.com/office/drawing/2014/main" id="{1077F3DF-DB6D-7DDB-7829-90617F0D2D48}"/>
              </a:ext>
            </a:extLst>
          </p:cNvPr>
          <p:cNvSpPr txBox="1"/>
          <p:nvPr/>
        </p:nvSpPr>
        <p:spPr>
          <a:xfrm>
            <a:off x="543095" y="236483"/>
            <a:ext cx="5006367" cy="477054"/>
          </a:xfrm>
          <a:prstGeom prst="rect">
            <a:avLst/>
          </a:prstGeom>
          <a:noFill/>
        </p:spPr>
        <p:txBody>
          <a:bodyPr wrap="square" rtlCol="0">
            <a:spAutoFit/>
          </a:bodyPr>
          <a:lstStyle/>
          <a:p>
            <a:r>
              <a:rPr lang="en-US" sz="2500" b="1" dirty="0"/>
              <a:t>Overview</a:t>
            </a:r>
          </a:p>
        </p:txBody>
      </p:sp>
    </p:spTree>
    <p:extLst>
      <p:ext uri="{BB962C8B-B14F-4D97-AF65-F5344CB8AC3E}">
        <p14:creationId xmlns:p14="http://schemas.microsoft.com/office/powerpoint/2010/main" val="1957129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B9047FF5-8EAD-B11E-EE00-6424D546597A}"/>
            </a:ext>
          </a:extLst>
        </p:cNvPr>
        <p:cNvGrpSpPr/>
        <p:nvPr/>
      </p:nvGrpSpPr>
      <p:grpSpPr>
        <a:xfrm>
          <a:off x="0" y="0"/>
          <a:ext cx="0" cy="0"/>
          <a:chOff x="0" y="0"/>
          <a:chExt cx="0" cy="0"/>
        </a:xfrm>
      </p:grpSpPr>
      <p:sp>
        <p:nvSpPr>
          <p:cNvPr id="250" name="Google Shape;250;g21197e7cf6e_0_97">
            <a:extLst>
              <a:ext uri="{FF2B5EF4-FFF2-40B4-BE49-F238E27FC236}">
                <a16:creationId xmlns:a16="http://schemas.microsoft.com/office/drawing/2014/main" id="{35F4D726-9F91-97F7-303D-85CFD2EE4529}"/>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253" name="Google Shape;253;g21197e7cf6e_0_97">
            <a:extLst>
              <a:ext uri="{FF2B5EF4-FFF2-40B4-BE49-F238E27FC236}">
                <a16:creationId xmlns:a16="http://schemas.microsoft.com/office/drawing/2014/main" id="{B3EB51F7-BF0A-1806-410B-C1BCE65BDCE9}"/>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C379FB7E-FE48-DFD8-6C7D-E06401E6F1D0}"/>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20" name="TextBox 19">
            <a:extLst>
              <a:ext uri="{FF2B5EF4-FFF2-40B4-BE49-F238E27FC236}">
                <a16:creationId xmlns:a16="http://schemas.microsoft.com/office/drawing/2014/main" id="{9DBF179C-72AA-B0A8-3D5C-F5A207BE0FDB}"/>
              </a:ext>
            </a:extLst>
          </p:cNvPr>
          <p:cNvSpPr txBox="1"/>
          <p:nvPr/>
        </p:nvSpPr>
        <p:spPr>
          <a:xfrm>
            <a:off x="5331371" y="2506717"/>
            <a:ext cx="5626028" cy="24559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300" dirty="0"/>
              <a:t>Transaction activities are spread across multiple cities, indicating a well-diversified customer base rather than dependence on a single geographic market.</a:t>
            </a:r>
          </a:p>
          <a:p>
            <a:pPr marL="285750" indent="-285750">
              <a:lnSpc>
                <a:spcPct val="150000"/>
              </a:lnSpc>
              <a:buFont typeface="Arial" panose="020B0604020202020204" pitchFamily="34" charset="0"/>
              <a:buChar char="•"/>
            </a:pPr>
            <a:r>
              <a:rPr lang="en-US" sz="1300" dirty="0"/>
              <a:t>Geographic analysis can further identify high-performing regions for targeted marketing and business expansion.</a:t>
            </a:r>
          </a:p>
          <a:p>
            <a:pPr marL="285750" indent="-285750">
              <a:lnSpc>
                <a:spcPct val="150000"/>
              </a:lnSpc>
              <a:buFont typeface="Arial" panose="020B0604020202020204" pitchFamily="34" charset="0"/>
              <a:buChar char="•"/>
            </a:pPr>
            <a:endParaRPr lang="en-US" sz="1300" dirty="0"/>
          </a:p>
          <a:p>
            <a:pPr>
              <a:lnSpc>
                <a:spcPct val="150000"/>
              </a:lnSpc>
            </a:pPr>
            <a:endParaRPr lang="en-US" sz="1300" dirty="0"/>
          </a:p>
          <a:p>
            <a:pPr>
              <a:lnSpc>
                <a:spcPct val="150000"/>
              </a:lnSpc>
            </a:pPr>
            <a:endParaRPr lang="en-US" sz="1300" dirty="0"/>
          </a:p>
        </p:txBody>
      </p:sp>
      <p:pic>
        <p:nvPicPr>
          <p:cNvPr id="5" name="Picture 4">
            <a:extLst>
              <a:ext uri="{FF2B5EF4-FFF2-40B4-BE49-F238E27FC236}">
                <a16:creationId xmlns:a16="http://schemas.microsoft.com/office/drawing/2014/main" id="{9E39A0D8-84BE-5169-DDB2-F40BA94ACC4F}"/>
              </a:ext>
            </a:extLst>
          </p:cNvPr>
          <p:cNvPicPr>
            <a:picLocks noChangeAspect="1"/>
          </p:cNvPicPr>
          <p:nvPr/>
        </p:nvPicPr>
        <p:blipFill>
          <a:blip r:embed="rId3"/>
          <a:stretch>
            <a:fillRect/>
          </a:stretch>
        </p:blipFill>
        <p:spPr>
          <a:xfrm>
            <a:off x="931815" y="1121869"/>
            <a:ext cx="3435233" cy="5035740"/>
          </a:xfrm>
          <a:prstGeom prst="rect">
            <a:avLst/>
          </a:prstGeom>
        </p:spPr>
      </p:pic>
      <p:sp>
        <p:nvSpPr>
          <p:cNvPr id="3" name="TextBox 2">
            <a:extLst>
              <a:ext uri="{FF2B5EF4-FFF2-40B4-BE49-F238E27FC236}">
                <a16:creationId xmlns:a16="http://schemas.microsoft.com/office/drawing/2014/main" id="{3AE4F876-5FBF-2721-9B22-67D773B6D902}"/>
              </a:ext>
            </a:extLst>
          </p:cNvPr>
          <p:cNvSpPr txBox="1"/>
          <p:nvPr/>
        </p:nvSpPr>
        <p:spPr>
          <a:xfrm>
            <a:off x="543095" y="236483"/>
            <a:ext cx="5006367" cy="477054"/>
          </a:xfrm>
          <a:prstGeom prst="rect">
            <a:avLst/>
          </a:prstGeom>
          <a:noFill/>
        </p:spPr>
        <p:txBody>
          <a:bodyPr wrap="square" rtlCol="0">
            <a:spAutoFit/>
          </a:bodyPr>
          <a:lstStyle/>
          <a:p>
            <a:r>
              <a:rPr lang="en-US" sz="2500" b="1" dirty="0"/>
              <a:t>Overview</a:t>
            </a:r>
          </a:p>
        </p:txBody>
      </p:sp>
    </p:spTree>
    <p:extLst>
      <p:ext uri="{BB962C8B-B14F-4D97-AF65-F5344CB8AC3E}">
        <p14:creationId xmlns:p14="http://schemas.microsoft.com/office/powerpoint/2010/main" val="760601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3394BB6A-606E-61F8-EDB3-4FDE4FF7F364}"/>
            </a:ext>
          </a:extLst>
        </p:cNvPr>
        <p:cNvGrpSpPr/>
        <p:nvPr/>
      </p:nvGrpSpPr>
      <p:grpSpPr>
        <a:xfrm>
          <a:off x="0" y="0"/>
          <a:ext cx="0" cy="0"/>
          <a:chOff x="0" y="0"/>
          <a:chExt cx="0" cy="0"/>
        </a:xfrm>
      </p:grpSpPr>
      <p:sp>
        <p:nvSpPr>
          <p:cNvPr id="250" name="Google Shape;250;g21197e7cf6e_0_97">
            <a:extLst>
              <a:ext uri="{FF2B5EF4-FFF2-40B4-BE49-F238E27FC236}">
                <a16:creationId xmlns:a16="http://schemas.microsoft.com/office/drawing/2014/main" id="{E7225E90-3C5A-2DC6-884C-EFF6713A489A}"/>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253" name="Google Shape;253;g21197e7cf6e_0_97">
            <a:extLst>
              <a:ext uri="{FF2B5EF4-FFF2-40B4-BE49-F238E27FC236}">
                <a16:creationId xmlns:a16="http://schemas.microsoft.com/office/drawing/2014/main" id="{71DF10BF-2FE0-4E71-3CFD-EE29ACB0BED6}"/>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1A22B2F2-57BD-4F1C-91E0-9BD29C9B2CC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20" name="TextBox 19">
            <a:extLst>
              <a:ext uri="{FF2B5EF4-FFF2-40B4-BE49-F238E27FC236}">
                <a16:creationId xmlns:a16="http://schemas.microsoft.com/office/drawing/2014/main" id="{EA373B4A-C7CD-A0E1-0E11-54F6126474D5}"/>
              </a:ext>
            </a:extLst>
          </p:cNvPr>
          <p:cNvSpPr txBox="1"/>
          <p:nvPr/>
        </p:nvSpPr>
        <p:spPr>
          <a:xfrm>
            <a:off x="462995" y="3607014"/>
            <a:ext cx="10949518" cy="231454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Late Payment Fees contribute 52.28% of the total fee income, making them the primary source of revenue.</a:t>
            </a:r>
          </a:p>
          <a:p>
            <a:pPr marL="285750" indent="-285750">
              <a:lnSpc>
                <a:spcPct val="150000"/>
              </a:lnSpc>
              <a:buFont typeface="Arial" panose="020B0604020202020204" pitchFamily="34" charset="0"/>
              <a:buChar char="•"/>
            </a:pPr>
            <a:r>
              <a:rPr lang="en-US" dirty="0"/>
              <a:t>Insurance Fees account for 31.34%, while Credit Card Fees contribute only 16.38%.</a:t>
            </a:r>
          </a:p>
          <a:p>
            <a:pPr marL="285750" indent="-285750">
              <a:lnSpc>
                <a:spcPct val="150000"/>
              </a:lnSpc>
              <a:buFont typeface="Arial" panose="020B0604020202020204" pitchFamily="34" charset="0"/>
              <a:buChar char="•"/>
            </a:pPr>
            <a:r>
              <a:rPr lang="en-US" dirty="0"/>
              <a:t>The bank’s fee income is therefore highly dependent on penalty-related charges rather than service – based fees.</a:t>
            </a:r>
          </a:p>
          <a:p>
            <a:pPr marL="285750" indent="-285750">
              <a:lnSpc>
                <a:spcPct val="150000"/>
              </a:lnSpc>
              <a:buFont typeface="Arial" panose="020B0604020202020204" pitchFamily="34" charset="0"/>
              <a:buChar char="•"/>
            </a:pPr>
            <a:r>
              <a:rPr lang="en-US" dirty="0"/>
              <a:t>Checking account, savings account, and mortgage generate fees entirely from </a:t>
            </a:r>
            <a:r>
              <a:rPr lang="en-US" dirty="0" err="1"/>
              <a:t>latepayment</a:t>
            </a:r>
            <a:r>
              <a:rPr lang="en-US" dirty="0"/>
              <a:t> fees.</a:t>
            </a:r>
          </a:p>
          <a:p>
            <a:pPr marL="285750" indent="-285750">
              <a:lnSpc>
                <a:spcPct val="150000"/>
              </a:lnSpc>
              <a:buFont typeface="Wingdings" panose="05000000000000000000" pitchFamily="2" charset="2"/>
              <a:buChar char="è"/>
            </a:pPr>
            <a:r>
              <a:rPr lang="en-US" dirty="0">
                <a:sym typeface="Wingdings" panose="05000000000000000000" pitchFamily="2" charset="2"/>
              </a:rPr>
              <a:t>Late payment Fees suggesting that the bank relies heavily on </a:t>
            </a:r>
            <a:r>
              <a:rPr lang="en-US" dirty="0" err="1">
                <a:sym typeface="Wingdings" panose="05000000000000000000" pitchFamily="2" charset="2"/>
              </a:rPr>
              <a:t>penalty_based</a:t>
            </a:r>
            <a:r>
              <a:rPr lang="en-US" dirty="0">
                <a:sym typeface="Wingdings" panose="05000000000000000000" pitchFamily="2" charset="2"/>
              </a:rPr>
              <a:t> revenue, which may not be sustainable in the long term.</a:t>
            </a:r>
            <a:endParaRPr lang="en-US" dirty="0"/>
          </a:p>
          <a:p>
            <a:pPr marL="285750" indent="-285750">
              <a:lnSpc>
                <a:spcPct val="150000"/>
              </a:lnSpc>
              <a:buFont typeface="Arial" panose="020B0604020202020204" pitchFamily="34" charset="0"/>
              <a:buChar char="•"/>
            </a:pPr>
            <a:endParaRPr lang="en-US" dirty="0"/>
          </a:p>
          <a:p>
            <a:pPr>
              <a:lnSpc>
                <a:spcPct val="150000"/>
              </a:lnSpc>
            </a:pPr>
            <a:endParaRPr lang="en-US" dirty="0"/>
          </a:p>
        </p:txBody>
      </p:sp>
      <p:pic>
        <p:nvPicPr>
          <p:cNvPr id="3" name="Picture 2">
            <a:extLst>
              <a:ext uri="{FF2B5EF4-FFF2-40B4-BE49-F238E27FC236}">
                <a16:creationId xmlns:a16="http://schemas.microsoft.com/office/drawing/2014/main" id="{C399638D-809E-7FE1-EA75-41719A4C9620}"/>
              </a:ext>
            </a:extLst>
          </p:cNvPr>
          <p:cNvPicPr>
            <a:picLocks noChangeAspect="1"/>
          </p:cNvPicPr>
          <p:nvPr/>
        </p:nvPicPr>
        <p:blipFill>
          <a:blip r:embed="rId3"/>
          <a:stretch>
            <a:fillRect/>
          </a:stretch>
        </p:blipFill>
        <p:spPr>
          <a:xfrm>
            <a:off x="382895" y="965073"/>
            <a:ext cx="11506791" cy="2463927"/>
          </a:xfrm>
          <a:prstGeom prst="rect">
            <a:avLst/>
          </a:prstGeom>
        </p:spPr>
      </p:pic>
      <p:sp>
        <p:nvSpPr>
          <p:cNvPr id="2" name="TextBox 1">
            <a:extLst>
              <a:ext uri="{FF2B5EF4-FFF2-40B4-BE49-F238E27FC236}">
                <a16:creationId xmlns:a16="http://schemas.microsoft.com/office/drawing/2014/main" id="{666CD09C-426C-4940-E1B9-CC5A63B64318}"/>
              </a:ext>
            </a:extLst>
          </p:cNvPr>
          <p:cNvSpPr txBox="1"/>
          <p:nvPr/>
        </p:nvSpPr>
        <p:spPr>
          <a:xfrm>
            <a:off x="543095" y="236483"/>
            <a:ext cx="5006367" cy="477054"/>
          </a:xfrm>
          <a:prstGeom prst="rect">
            <a:avLst/>
          </a:prstGeom>
          <a:noFill/>
        </p:spPr>
        <p:txBody>
          <a:bodyPr wrap="square" rtlCol="0">
            <a:spAutoFit/>
          </a:bodyPr>
          <a:lstStyle/>
          <a:p>
            <a:r>
              <a:rPr lang="en-US" sz="2500" b="1" dirty="0"/>
              <a:t>Fee Structure</a:t>
            </a:r>
          </a:p>
        </p:txBody>
      </p:sp>
    </p:spTree>
    <p:extLst>
      <p:ext uri="{BB962C8B-B14F-4D97-AF65-F5344CB8AC3E}">
        <p14:creationId xmlns:p14="http://schemas.microsoft.com/office/powerpoint/2010/main" val="297700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F861696E-4595-CE74-921F-ACA26A43D9EB}"/>
            </a:ext>
          </a:extLst>
        </p:cNvPr>
        <p:cNvGrpSpPr/>
        <p:nvPr/>
      </p:nvGrpSpPr>
      <p:grpSpPr>
        <a:xfrm>
          <a:off x="0" y="0"/>
          <a:ext cx="0" cy="0"/>
          <a:chOff x="0" y="0"/>
          <a:chExt cx="0" cy="0"/>
        </a:xfrm>
      </p:grpSpPr>
      <p:sp>
        <p:nvSpPr>
          <p:cNvPr id="250" name="Google Shape;250;g21197e7cf6e_0_97">
            <a:extLst>
              <a:ext uri="{FF2B5EF4-FFF2-40B4-BE49-F238E27FC236}">
                <a16:creationId xmlns:a16="http://schemas.microsoft.com/office/drawing/2014/main" id="{E0730C98-77DA-9F1E-8FC1-9FB778387D74}"/>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253" name="Google Shape;253;g21197e7cf6e_0_97">
            <a:extLst>
              <a:ext uri="{FF2B5EF4-FFF2-40B4-BE49-F238E27FC236}">
                <a16:creationId xmlns:a16="http://schemas.microsoft.com/office/drawing/2014/main" id="{078E8980-8967-9696-A7DB-A160CB3AA099}"/>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F9817BE3-754E-6961-E685-8F9E3C8601BB}"/>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20" name="TextBox 19">
            <a:extLst>
              <a:ext uri="{FF2B5EF4-FFF2-40B4-BE49-F238E27FC236}">
                <a16:creationId xmlns:a16="http://schemas.microsoft.com/office/drawing/2014/main" id="{F7DC6652-4721-42D9-6C89-DA9E6F83CE15}"/>
              </a:ext>
            </a:extLst>
          </p:cNvPr>
          <p:cNvSpPr txBox="1"/>
          <p:nvPr/>
        </p:nvSpPr>
        <p:spPr>
          <a:xfrm>
            <a:off x="462995" y="4075833"/>
            <a:ext cx="10949518" cy="18557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300" dirty="0"/>
              <a:t>Customer with high fee burden exhibit significantly higher fee ratios but lower transaction values, indicating a higher risk of customer </a:t>
            </a:r>
            <a:r>
              <a:rPr lang="en-US" sz="1300" dirty="0" err="1"/>
              <a:t>dissactisfaction</a:t>
            </a:r>
            <a:r>
              <a:rPr lang="en-US" sz="1300" dirty="0"/>
              <a:t> or churn.</a:t>
            </a:r>
          </a:p>
          <a:p>
            <a:pPr marL="285750" indent="-285750">
              <a:lnSpc>
                <a:spcPct val="150000"/>
              </a:lnSpc>
              <a:buFont typeface="Arial" panose="020B0604020202020204" pitchFamily="34" charset="0"/>
              <a:buChar char="•"/>
            </a:pPr>
            <a:r>
              <a:rPr lang="en-US" sz="1300" dirty="0"/>
              <a:t>Expanding service-based fee income, such as credit card services and insurance products, could diversify revenue sources and reduce dependence on penalty fees.</a:t>
            </a:r>
          </a:p>
          <a:p>
            <a:pPr marL="285750" indent="-285750">
              <a:lnSpc>
                <a:spcPct val="150000"/>
              </a:lnSpc>
              <a:buFont typeface="Arial" panose="020B0604020202020204" pitchFamily="34" charset="0"/>
              <a:buChar char="•"/>
            </a:pPr>
            <a:r>
              <a:rPr lang="en-US" sz="1300" dirty="0"/>
              <a:t>Personalized financial education, automatic payment reminders and fee-reduction incentives could help lower late payment fees while improving customer experience and long-term loyalty.</a:t>
            </a:r>
          </a:p>
        </p:txBody>
      </p:sp>
      <p:pic>
        <p:nvPicPr>
          <p:cNvPr id="5" name="Picture 4">
            <a:extLst>
              <a:ext uri="{FF2B5EF4-FFF2-40B4-BE49-F238E27FC236}">
                <a16:creationId xmlns:a16="http://schemas.microsoft.com/office/drawing/2014/main" id="{1DC62BCB-CFBB-EC2C-8D33-4A200A48BC99}"/>
              </a:ext>
            </a:extLst>
          </p:cNvPr>
          <p:cNvPicPr>
            <a:picLocks noChangeAspect="1"/>
          </p:cNvPicPr>
          <p:nvPr/>
        </p:nvPicPr>
        <p:blipFill>
          <a:blip r:embed="rId3"/>
          <a:stretch>
            <a:fillRect/>
          </a:stretch>
        </p:blipFill>
        <p:spPr>
          <a:xfrm>
            <a:off x="513753" y="834021"/>
            <a:ext cx="10794651" cy="3015800"/>
          </a:xfrm>
          <a:prstGeom prst="rect">
            <a:avLst/>
          </a:prstGeom>
        </p:spPr>
      </p:pic>
      <p:sp>
        <p:nvSpPr>
          <p:cNvPr id="2" name="TextBox 1">
            <a:extLst>
              <a:ext uri="{FF2B5EF4-FFF2-40B4-BE49-F238E27FC236}">
                <a16:creationId xmlns:a16="http://schemas.microsoft.com/office/drawing/2014/main" id="{52A38EF7-5F82-1C28-B630-55261A6B9581}"/>
              </a:ext>
            </a:extLst>
          </p:cNvPr>
          <p:cNvSpPr txBox="1"/>
          <p:nvPr/>
        </p:nvSpPr>
        <p:spPr>
          <a:xfrm>
            <a:off x="543095" y="236483"/>
            <a:ext cx="5006367" cy="477054"/>
          </a:xfrm>
          <a:prstGeom prst="rect">
            <a:avLst/>
          </a:prstGeom>
          <a:noFill/>
        </p:spPr>
        <p:txBody>
          <a:bodyPr wrap="square" rtlCol="0">
            <a:spAutoFit/>
          </a:bodyPr>
          <a:lstStyle/>
          <a:p>
            <a:r>
              <a:rPr lang="en-US" sz="2500" b="1" dirty="0"/>
              <a:t>Fee Structure</a:t>
            </a:r>
          </a:p>
        </p:txBody>
      </p:sp>
    </p:spTree>
    <p:extLst>
      <p:ext uri="{BB962C8B-B14F-4D97-AF65-F5344CB8AC3E}">
        <p14:creationId xmlns:p14="http://schemas.microsoft.com/office/powerpoint/2010/main" val="1886523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443C01AD-4B7B-11B5-2D9D-6896E4FA6924}"/>
            </a:ext>
          </a:extLst>
        </p:cNvPr>
        <p:cNvGrpSpPr/>
        <p:nvPr/>
      </p:nvGrpSpPr>
      <p:grpSpPr>
        <a:xfrm>
          <a:off x="0" y="0"/>
          <a:ext cx="0" cy="0"/>
          <a:chOff x="0" y="0"/>
          <a:chExt cx="0" cy="0"/>
        </a:xfrm>
      </p:grpSpPr>
      <p:sp>
        <p:nvSpPr>
          <p:cNvPr id="250" name="Google Shape;250;g21197e7cf6e_0_97">
            <a:extLst>
              <a:ext uri="{FF2B5EF4-FFF2-40B4-BE49-F238E27FC236}">
                <a16:creationId xmlns:a16="http://schemas.microsoft.com/office/drawing/2014/main" id="{0F80B8E4-48D4-8DE9-6388-7F82696E2E11}"/>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253" name="Google Shape;253;g21197e7cf6e_0_97">
            <a:extLst>
              <a:ext uri="{FF2B5EF4-FFF2-40B4-BE49-F238E27FC236}">
                <a16:creationId xmlns:a16="http://schemas.microsoft.com/office/drawing/2014/main" id="{BC51D747-2FEA-F8CE-4F3B-6D2B6E408258}"/>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56F6CB11-E45A-990C-B3D9-44B6BAB29996}"/>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20" name="TextBox 19">
            <a:extLst>
              <a:ext uri="{FF2B5EF4-FFF2-40B4-BE49-F238E27FC236}">
                <a16:creationId xmlns:a16="http://schemas.microsoft.com/office/drawing/2014/main" id="{2B723B4C-945E-5F95-0E6F-6B1FAE678396}"/>
              </a:ext>
            </a:extLst>
          </p:cNvPr>
          <p:cNvSpPr txBox="1"/>
          <p:nvPr/>
        </p:nvSpPr>
        <p:spPr>
          <a:xfrm>
            <a:off x="462995" y="3469524"/>
            <a:ext cx="10949518" cy="215584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300" dirty="0"/>
              <a:t>Mortgage generates the highest transaction amount (30M), while credit card records the highest number of transactions.</a:t>
            </a:r>
          </a:p>
          <a:p>
            <a:pPr marL="285750" indent="-285750">
              <a:lnSpc>
                <a:spcPct val="150000"/>
              </a:lnSpc>
              <a:buFont typeface="Arial" panose="020B0604020202020204" pitchFamily="34" charset="0"/>
              <a:buChar char="•"/>
            </a:pPr>
            <a:r>
              <a:rPr lang="en-US" sz="1300" dirty="0"/>
              <a:t>Savings and Checking Accounts contribute lower transaction amounts, reflecting their role as fundamental banking products rather than high value financial services.</a:t>
            </a:r>
          </a:p>
          <a:p>
            <a:pPr marL="285750" indent="-285750">
              <a:lnSpc>
                <a:spcPct val="150000"/>
              </a:lnSpc>
              <a:buFont typeface="Arial" panose="020B0604020202020204" pitchFamily="34" charset="0"/>
              <a:buChar char="•"/>
            </a:pPr>
            <a:r>
              <a:rPr lang="en-US" sz="1300" dirty="0"/>
              <a:t>Credit cards demonstrate high customer activity despite generating a lower transaction value than Mortgage and Loan Products.</a:t>
            </a:r>
          </a:p>
          <a:p>
            <a:pPr marL="285750" indent="-285750">
              <a:lnSpc>
                <a:spcPct val="150000"/>
              </a:lnSpc>
              <a:buFont typeface="Arial" panose="020B0604020202020204" pitchFamily="34" charset="0"/>
              <a:buChar char="•"/>
            </a:pPr>
            <a:r>
              <a:rPr lang="en-US" sz="1300" dirty="0"/>
              <a:t>Mobiles Banking generates the highest transaction amount and transaction volume, confirming it as the primary customer interaction channel.</a:t>
            </a:r>
          </a:p>
          <a:p>
            <a:pPr marL="285750" indent="-285750">
              <a:lnSpc>
                <a:spcPct val="150000"/>
              </a:lnSpc>
              <a:buFont typeface="Arial" panose="020B0604020202020204" pitchFamily="34" charset="0"/>
              <a:buChar char="•"/>
            </a:pPr>
            <a:r>
              <a:rPr lang="en-US" sz="1300" dirty="0"/>
              <a:t>Branch, ATM and Online channels show relatively similar transaction values, suggesting customers actively use multiple banking channels rather than relying on a single platform.</a:t>
            </a:r>
          </a:p>
        </p:txBody>
      </p:sp>
      <p:pic>
        <p:nvPicPr>
          <p:cNvPr id="3" name="Picture 2">
            <a:extLst>
              <a:ext uri="{FF2B5EF4-FFF2-40B4-BE49-F238E27FC236}">
                <a16:creationId xmlns:a16="http://schemas.microsoft.com/office/drawing/2014/main" id="{13EB06A8-3B49-E645-0B68-CFF3756F574B}"/>
              </a:ext>
            </a:extLst>
          </p:cNvPr>
          <p:cNvPicPr>
            <a:picLocks noChangeAspect="1"/>
          </p:cNvPicPr>
          <p:nvPr/>
        </p:nvPicPr>
        <p:blipFill>
          <a:blip r:embed="rId3"/>
          <a:stretch>
            <a:fillRect/>
          </a:stretch>
        </p:blipFill>
        <p:spPr>
          <a:xfrm>
            <a:off x="382895" y="1002804"/>
            <a:ext cx="11151173" cy="2235315"/>
          </a:xfrm>
          <a:prstGeom prst="rect">
            <a:avLst/>
          </a:prstGeom>
        </p:spPr>
      </p:pic>
      <p:sp>
        <p:nvSpPr>
          <p:cNvPr id="2" name="TextBox 1">
            <a:extLst>
              <a:ext uri="{FF2B5EF4-FFF2-40B4-BE49-F238E27FC236}">
                <a16:creationId xmlns:a16="http://schemas.microsoft.com/office/drawing/2014/main" id="{D0E298A9-F2C0-29BC-3CA1-15C31AB508A2}"/>
              </a:ext>
            </a:extLst>
          </p:cNvPr>
          <p:cNvSpPr txBox="1"/>
          <p:nvPr/>
        </p:nvSpPr>
        <p:spPr>
          <a:xfrm>
            <a:off x="543095" y="236483"/>
            <a:ext cx="8332891" cy="477054"/>
          </a:xfrm>
          <a:prstGeom prst="rect">
            <a:avLst/>
          </a:prstGeom>
          <a:noFill/>
        </p:spPr>
        <p:txBody>
          <a:bodyPr wrap="square" rtlCol="0">
            <a:spAutoFit/>
          </a:bodyPr>
          <a:lstStyle/>
          <a:p>
            <a:r>
              <a:rPr lang="en-US" sz="2500" b="1" dirty="0"/>
              <a:t>Customer Behavior And Multi-usage</a:t>
            </a:r>
          </a:p>
        </p:txBody>
      </p:sp>
    </p:spTree>
    <p:extLst>
      <p:ext uri="{BB962C8B-B14F-4D97-AF65-F5344CB8AC3E}">
        <p14:creationId xmlns:p14="http://schemas.microsoft.com/office/powerpoint/2010/main" val="3575210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99E55FF6-33A9-C0D2-AF9E-BD59FA2395D0}"/>
            </a:ext>
          </a:extLst>
        </p:cNvPr>
        <p:cNvGrpSpPr/>
        <p:nvPr/>
      </p:nvGrpSpPr>
      <p:grpSpPr>
        <a:xfrm>
          <a:off x="0" y="0"/>
          <a:ext cx="0" cy="0"/>
          <a:chOff x="0" y="0"/>
          <a:chExt cx="0" cy="0"/>
        </a:xfrm>
      </p:grpSpPr>
      <p:sp>
        <p:nvSpPr>
          <p:cNvPr id="250" name="Google Shape;250;g21197e7cf6e_0_97">
            <a:extLst>
              <a:ext uri="{FF2B5EF4-FFF2-40B4-BE49-F238E27FC236}">
                <a16:creationId xmlns:a16="http://schemas.microsoft.com/office/drawing/2014/main" id="{AAE45A6D-2AF3-3785-3B9C-C692A059327E}"/>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sp>
        <p:nvSpPr>
          <p:cNvPr id="253" name="Google Shape;253;g21197e7cf6e_0_97">
            <a:extLst>
              <a:ext uri="{FF2B5EF4-FFF2-40B4-BE49-F238E27FC236}">
                <a16:creationId xmlns:a16="http://schemas.microsoft.com/office/drawing/2014/main" id="{AF94EF51-22D7-980B-3265-598DA1EA32DC}"/>
              </a:ext>
            </a:extLst>
          </p:cNvPr>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495F6380-2C9C-CE89-097F-D713A048C4BE}"/>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20" name="TextBox 19">
            <a:extLst>
              <a:ext uri="{FF2B5EF4-FFF2-40B4-BE49-F238E27FC236}">
                <a16:creationId xmlns:a16="http://schemas.microsoft.com/office/drawing/2014/main" id="{7AB6DF2C-F3A5-1246-AF5F-73AE3A94A106}"/>
              </a:ext>
            </a:extLst>
          </p:cNvPr>
          <p:cNvSpPr txBox="1"/>
          <p:nvPr/>
        </p:nvSpPr>
        <p:spPr>
          <a:xfrm>
            <a:off x="621241" y="3713889"/>
            <a:ext cx="10949518" cy="2155847"/>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300" dirty="0"/>
              <a:t>Customers using two products and two channels represent the largest customer groups and contribute the highest total transaction amounts. More importantly, the average transaction amount per customer increases consistently as customers adopt additional products and channels, reaching 25.7K for four-product users and 26.2K for four-channel users.</a:t>
            </a:r>
          </a:p>
          <a:p>
            <a:pPr marL="285750" indent="-285750" algn="just">
              <a:lnSpc>
                <a:spcPct val="150000"/>
              </a:lnSpc>
              <a:buFont typeface="Arial" panose="020B0604020202020204" pitchFamily="34" charset="0"/>
              <a:buChar char="•"/>
            </a:pPr>
            <a:r>
              <a:rPr lang="en-US" sz="1300" dirty="0"/>
              <a:t>Although Basic Users account for 65.45% of the customer base, they generate only 28% of the total transaction value, whereas High Channel &amp; Product users represent just 17.16% of customers but contribute nearly 44% of the total transaction amount</a:t>
            </a:r>
          </a:p>
          <a:p>
            <a:pPr marL="285750" indent="-285750" algn="just">
              <a:lnSpc>
                <a:spcPct val="150000"/>
              </a:lnSpc>
              <a:buFont typeface="Arial" panose="020B0604020202020204" pitchFamily="34" charset="0"/>
              <a:buChar char="•"/>
            </a:pPr>
            <a:r>
              <a:rPr lang="en-US" sz="1300" dirty="0"/>
              <a:t>These findings indicate that highly engaged customers deliver disproportionately greater business value, highlighting significant opportunities to increase customer lifetime value through cross-selling, omnichannel adoption, and personalized engagement strategies.</a:t>
            </a:r>
          </a:p>
        </p:txBody>
      </p:sp>
      <p:pic>
        <p:nvPicPr>
          <p:cNvPr id="5" name="Picture 4">
            <a:extLst>
              <a:ext uri="{FF2B5EF4-FFF2-40B4-BE49-F238E27FC236}">
                <a16:creationId xmlns:a16="http://schemas.microsoft.com/office/drawing/2014/main" id="{62EA9FB8-210D-3A53-7750-07850C2FE811}"/>
              </a:ext>
            </a:extLst>
          </p:cNvPr>
          <p:cNvPicPr>
            <a:picLocks noChangeAspect="1"/>
          </p:cNvPicPr>
          <p:nvPr/>
        </p:nvPicPr>
        <p:blipFill>
          <a:blip r:embed="rId3"/>
          <a:stretch>
            <a:fillRect/>
          </a:stretch>
        </p:blipFill>
        <p:spPr>
          <a:xfrm>
            <a:off x="2046156" y="750471"/>
            <a:ext cx="7160906" cy="2963418"/>
          </a:xfrm>
          <a:prstGeom prst="rect">
            <a:avLst/>
          </a:prstGeom>
        </p:spPr>
      </p:pic>
      <p:sp>
        <p:nvSpPr>
          <p:cNvPr id="2" name="TextBox 1">
            <a:extLst>
              <a:ext uri="{FF2B5EF4-FFF2-40B4-BE49-F238E27FC236}">
                <a16:creationId xmlns:a16="http://schemas.microsoft.com/office/drawing/2014/main" id="{949D4464-F128-2A14-B2AE-DE5FCC6E8C51}"/>
              </a:ext>
            </a:extLst>
          </p:cNvPr>
          <p:cNvSpPr txBox="1"/>
          <p:nvPr/>
        </p:nvSpPr>
        <p:spPr>
          <a:xfrm>
            <a:off x="543095" y="236483"/>
            <a:ext cx="8332891" cy="477054"/>
          </a:xfrm>
          <a:prstGeom prst="rect">
            <a:avLst/>
          </a:prstGeom>
          <a:noFill/>
        </p:spPr>
        <p:txBody>
          <a:bodyPr wrap="square" rtlCol="0">
            <a:spAutoFit/>
          </a:bodyPr>
          <a:lstStyle/>
          <a:p>
            <a:r>
              <a:rPr lang="en-US" sz="2500" b="1" dirty="0"/>
              <a:t>Customer Behavior And Multi-usage</a:t>
            </a:r>
          </a:p>
        </p:txBody>
      </p:sp>
    </p:spTree>
    <p:extLst>
      <p:ext uri="{BB962C8B-B14F-4D97-AF65-F5344CB8AC3E}">
        <p14:creationId xmlns:p14="http://schemas.microsoft.com/office/powerpoint/2010/main" val="2650597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29</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Key Insights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20" name="TextBox 19">
            <a:extLst>
              <a:ext uri="{FF2B5EF4-FFF2-40B4-BE49-F238E27FC236}">
                <a16:creationId xmlns:a16="http://schemas.microsoft.com/office/drawing/2014/main" id="{C2890132-0527-4A5E-83E8-2C03B1F118FF}"/>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
        <p:nvSpPr>
          <p:cNvPr id="5" name="TextBox 4">
            <a:extLst>
              <a:ext uri="{FF2B5EF4-FFF2-40B4-BE49-F238E27FC236}">
                <a16:creationId xmlns:a16="http://schemas.microsoft.com/office/drawing/2014/main" id="{DED4D091-06E5-95EB-66A6-05B83DE79EF2}"/>
              </a:ext>
            </a:extLst>
          </p:cNvPr>
          <p:cNvSpPr txBox="1"/>
          <p:nvPr/>
        </p:nvSpPr>
        <p:spPr>
          <a:xfrm>
            <a:off x="472966" y="1321953"/>
            <a:ext cx="11373413" cy="393037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Stable Business Performance: The bank serves 8,025 customers with 20,000 transactions, generating over 101M in transaction value, while customer engagement remains relatively low at 2.49 transactions per customer.</a:t>
            </a:r>
          </a:p>
          <a:p>
            <a:pPr marL="285750" indent="-285750" algn="just">
              <a:lnSpc>
                <a:spcPct val="150000"/>
              </a:lnSpc>
              <a:buFont typeface="Arial" panose="020B0604020202020204" pitchFamily="34" charset="0"/>
              <a:buChar char="•"/>
            </a:pPr>
            <a:r>
              <a:rPr lang="en-US" dirty="0"/>
              <a:t>Core Revenue Drivers: Mortgage is the highest-value product, Mobile Banking is the leading transaction channel, and Middle-Income customers contribute the largest share of total transaction value.</a:t>
            </a:r>
          </a:p>
          <a:p>
            <a:pPr marL="285750" indent="-285750" algn="just">
              <a:lnSpc>
                <a:spcPct val="150000"/>
              </a:lnSpc>
              <a:buFont typeface="Arial" panose="020B0604020202020204" pitchFamily="34" charset="0"/>
              <a:buChar char="•"/>
            </a:pPr>
            <a:r>
              <a:rPr lang="en-US" dirty="0"/>
              <a:t>Fee Structure: Late Payment Fees account for 52.28% of total fee income, indicating a strong reliance on penalty-based revenue rather than value-added services.</a:t>
            </a:r>
          </a:p>
          <a:p>
            <a:pPr marL="285750" indent="-285750" algn="just">
              <a:lnSpc>
                <a:spcPct val="150000"/>
              </a:lnSpc>
              <a:buFont typeface="Arial" panose="020B0604020202020204" pitchFamily="34" charset="0"/>
              <a:buChar char="•"/>
            </a:pPr>
            <a:r>
              <a:rPr lang="en-US" dirty="0"/>
              <a:t>Customer Engagement Matters: Customers using more products and channels consistently generate higher average transaction values, demonstrating a strong positive relationship between engagement and customer value.</a:t>
            </a:r>
          </a:p>
          <a:p>
            <a:pPr marL="285750" indent="-285750" algn="just">
              <a:lnSpc>
                <a:spcPct val="150000"/>
              </a:lnSpc>
              <a:buFont typeface="Arial" panose="020B0604020202020204" pitchFamily="34" charset="0"/>
              <a:buChar char="•"/>
            </a:pPr>
            <a:r>
              <a:rPr lang="en-US" dirty="0"/>
              <a:t>High-Value Customer Segment: Although High Channel &amp; Product users represent only 17.16% of customers, they contribute 43.99% of the total transaction amount, making them the bank's most valuable customer segment.</a:t>
            </a:r>
          </a:p>
          <a:p>
            <a:pPr marL="285750" indent="-285750" algn="just">
              <a:lnSpc>
                <a:spcPct val="150000"/>
              </a:lnSpc>
              <a:buFont typeface="Arial" panose="020B0604020202020204" pitchFamily="34" charset="0"/>
              <a:buChar char="•"/>
            </a:pPr>
            <a:r>
              <a:rPr lang="en-US" dirty="0"/>
              <a:t>Growth Opportunity: The large Basic User segment (65.45% of customers) presents significant opportunities for cross-selling, omnichannel adoption, and personalized marketing to increase customer lifetime value and drive sustainable business growth.</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Recommendat</a:t>
            </a:r>
            <a:r>
              <a:rPr lang="en-US" sz="2800" b="1" dirty="0">
                <a:solidFill>
                  <a:srgbClr val="FFFFFF"/>
                </a:solidFill>
                <a:latin typeface="Poppins"/>
                <a:ea typeface="Poppins"/>
                <a:cs typeface="Poppins"/>
                <a:sym typeface="Poppins"/>
              </a:rPr>
              <a:t>ions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pic>
        <p:nvPicPr>
          <p:cNvPr id="3" name="Picture 2">
            <a:extLst>
              <a:ext uri="{FF2B5EF4-FFF2-40B4-BE49-F238E27FC236}">
                <a16:creationId xmlns:a16="http://schemas.microsoft.com/office/drawing/2014/main"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id="{83D71369-AFB0-40E1-B98D-52352B364C5E}"/>
              </a:ext>
            </a:extLst>
          </p:cNvPr>
          <p:cNvSpPr txBox="1"/>
          <p:nvPr/>
        </p:nvSpPr>
        <p:spPr>
          <a:xfrm>
            <a:off x="3336173" y="335567"/>
            <a:ext cx="44552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Recommendations</a:t>
            </a:r>
            <a:endParaRPr lang="en-IN" sz="3200" dirty="0"/>
          </a:p>
        </p:txBody>
      </p:sp>
      <p:sp>
        <p:nvSpPr>
          <p:cNvPr id="6" name="TextBox 5">
            <a:extLst>
              <a:ext uri="{FF2B5EF4-FFF2-40B4-BE49-F238E27FC236}">
                <a16:creationId xmlns:a16="http://schemas.microsoft.com/office/drawing/2014/main" id="{CE9B08C0-B554-7C62-0C46-803B6F2AE993}"/>
              </a:ext>
            </a:extLst>
          </p:cNvPr>
          <p:cNvSpPr txBox="1"/>
          <p:nvPr/>
        </p:nvSpPr>
        <p:spPr>
          <a:xfrm>
            <a:off x="472966" y="1321953"/>
            <a:ext cx="11373413" cy="393037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Increase customer engagement by encouraging Basic Users to adopt additional banking products and channels through personalized cross-selling and bundled financial packages.</a:t>
            </a:r>
          </a:p>
          <a:p>
            <a:pPr marL="285750" indent="-285750" algn="just">
              <a:lnSpc>
                <a:spcPct val="150000"/>
              </a:lnSpc>
              <a:buFont typeface="Arial" panose="020B0604020202020204" pitchFamily="34" charset="0"/>
              <a:buChar char="•"/>
            </a:pPr>
            <a:r>
              <a:rPr lang="en-US" dirty="0"/>
              <a:t>Strengthen digital banking adoption, particularly Mobile Banking, by enhancing user experience and introducing exclusive digital promotions to increase transaction frequency.</a:t>
            </a:r>
          </a:p>
          <a:p>
            <a:pPr marL="285750" indent="-285750" algn="just">
              <a:lnSpc>
                <a:spcPct val="150000"/>
              </a:lnSpc>
              <a:buFont typeface="Arial" panose="020B0604020202020204" pitchFamily="34" charset="0"/>
              <a:buChar char="•"/>
            </a:pPr>
            <a:r>
              <a:rPr lang="en-US" dirty="0"/>
              <a:t>Reduce reliance on Late Payment Fees by implementing payment reminders, auto-payment services, and financial education programs to improve customer satisfaction while maintaining sustainable revenue growth.</a:t>
            </a:r>
          </a:p>
          <a:p>
            <a:pPr marL="285750" indent="-285750" algn="just">
              <a:lnSpc>
                <a:spcPct val="150000"/>
              </a:lnSpc>
              <a:buFont typeface="Arial" panose="020B0604020202020204" pitchFamily="34" charset="0"/>
              <a:buChar char="•"/>
            </a:pPr>
            <a:r>
              <a:rPr lang="en-US" dirty="0"/>
              <a:t>Prioritize high-value customers by offering personalized rewards, premium services, and loyalty programs to retain customers with high product and channel usage.</a:t>
            </a:r>
          </a:p>
          <a:p>
            <a:pPr marL="285750" indent="-285750" algn="just">
              <a:lnSpc>
                <a:spcPct val="150000"/>
              </a:lnSpc>
              <a:buFont typeface="Arial" panose="020B0604020202020204" pitchFamily="34" charset="0"/>
              <a:buChar char="•"/>
            </a:pPr>
            <a:r>
              <a:rPr lang="en-US" dirty="0"/>
              <a:t>Expand value-added fee-based services, such as insurance, investment, and premium credit card offerings, to diversify fee income beyond penalty-related charges.</a:t>
            </a:r>
          </a:p>
          <a:p>
            <a:pPr marL="285750" indent="-285750" algn="just">
              <a:lnSpc>
                <a:spcPct val="150000"/>
              </a:lnSpc>
              <a:buFont typeface="Arial" panose="020B0604020202020204" pitchFamily="34" charset="0"/>
              <a:buChar char="•"/>
            </a:pPr>
            <a:r>
              <a:rPr lang="en-US" dirty="0"/>
              <a:t>Leverage customer segmentation to design targeted marketing campaigns, improving product adoption, customer lifetime value, and long-term profitability.</a:t>
            </a:r>
            <a:endParaRPr lang="en-US" sz="1400" dirty="0"/>
          </a:p>
        </p:txBody>
      </p:sp>
    </p:spTree>
    <p:extLst>
      <p:ext uri="{BB962C8B-B14F-4D97-AF65-F5344CB8AC3E}">
        <p14:creationId xmlns:p14="http://schemas.microsoft.com/office/powerpoint/2010/main" val="2845123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Dashboard Preview</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457610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616138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1 –Overview</a:t>
            </a:r>
            <a:endParaRPr dirty="0">
              <a:solidFill>
                <a:schemeClr val="tx1">
                  <a:lumMod val="75000"/>
                  <a:lumOff val="25000"/>
                </a:schemeClr>
              </a:solidFill>
            </a:endParaRPr>
          </a:p>
        </p:txBody>
      </p:sp>
      <p:pic>
        <p:nvPicPr>
          <p:cNvPr id="6" name="Picture 5">
            <a:extLst>
              <a:ext uri="{FF2B5EF4-FFF2-40B4-BE49-F238E27FC236}">
                <a16:creationId xmlns:a16="http://schemas.microsoft.com/office/drawing/2014/main" id="{6E2E367F-15A0-BFE7-5580-A01517562E0A}"/>
              </a:ext>
            </a:extLst>
          </p:cNvPr>
          <p:cNvPicPr>
            <a:picLocks noChangeAspect="1"/>
          </p:cNvPicPr>
          <p:nvPr/>
        </p:nvPicPr>
        <p:blipFill>
          <a:blip r:embed="rId5"/>
          <a:stretch>
            <a:fillRect/>
          </a:stretch>
        </p:blipFill>
        <p:spPr>
          <a:xfrm>
            <a:off x="1232256" y="837512"/>
            <a:ext cx="10125006" cy="5791887"/>
          </a:xfrm>
          <a:prstGeom prst="rect">
            <a:avLst/>
          </a:prstGeom>
        </p:spPr>
      </p:pic>
    </p:spTree>
    <p:extLst>
      <p:ext uri="{BB962C8B-B14F-4D97-AF65-F5344CB8AC3E}">
        <p14:creationId xmlns:p14="http://schemas.microsoft.com/office/powerpoint/2010/main" val="2738212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35</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35</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947354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2 – Fee Analyst</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BC0B03A1-840A-485B-0FB3-A39A6484BB7D}"/>
              </a:ext>
            </a:extLst>
          </p:cNvPr>
          <p:cNvPicPr>
            <a:picLocks noChangeAspect="1"/>
          </p:cNvPicPr>
          <p:nvPr/>
        </p:nvPicPr>
        <p:blipFill>
          <a:blip r:embed="rId5"/>
          <a:stretch>
            <a:fillRect/>
          </a:stretch>
        </p:blipFill>
        <p:spPr>
          <a:xfrm>
            <a:off x="1048407" y="754564"/>
            <a:ext cx="10379159" cy="5945726"/>
          </a:xfrm>
          <a:prstGeom prst="rect">
            <a:avLst/>
          </a:prstGeom>
        </p:spPr>
      </p:pic>
    </p:spTree>
    <p:extLst>
      <p:ext uri="{BB962C8B-B14F-4D97-AF65-F5344CB8AC3E}">
        <p14:creationId xmlns:p14="http://schemas.microsoft.com/office/powerpoint/2010/main" val="1670158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10329345"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3 -  Customer </a:t>
            </a:r>
            <a:r>
              <a:rPr lang="en-IN" dirty="0" err="1">
                <a:solidFill>
                  <a:schemeClr val="tx1">
                    <a:lumMod val="75000"/>
                    <a:lumOff val="25000"/>
                  </a:schemeClr>
                </a:solidFill>
                <a:effectLst/>
              </a:rPr>
              <a:t>Behavior</a:t>
            </a:r>
            <a:r>
              <a:rPr lang="en-IN" dirty="0">
                <a:solidFill>
                  <a:schemeClr val="tx1">
                    <a:lumMod val="75000"/>
                    <a:lumOff val="25000"/>
                  </a:schemeClr>
                </a:solidFill>
                <a:effectLst/>
              </a:rPr>
              <a:t> &amp; Multi-Usage</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8CBD03AC-754F-6C67-1035-6B29EDAEDCE0}"/>
              </a:ext>
            </a:extLst>
          </p:cNvPr>
          <p:cNvPicPr>
            <a:picLocks noChangeAspect="1"/>
          </p:cNvPicPr>
          <p:nvPr/>
        </p:nvPicPr>
        <p:blipFill>
          <a:blip r:embed="rId5"/>
          <a:stretch>
            <a:fillRect/>
          </a:stretch>
        </p:blipFill>
        <p:spPr>
          <a:xfrm>
            <a:off x="1085455" y="861298"/>
            <a:ext cx="10177994" cy="5878460"/>
          </a:xfrm>
          <a:prstGeom prst="rect">
            <a:avLst/>
          </a:prstGeom>
        </p:spPr>
      </p:pic>
    </p:spTree>
    <p:extLst>
      <p:ext uri="{BB962C8B-B14F-4D97-AF65-F5344CB8AC3E}">
        <p14:creationId xmlns:p14="http://schemas.microsoft.com/office/powerpoint/2010/main" val="1810527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EF86CAF-AF8E-4B21-8106-07E3225F85F6}"/>
              </a:ext>
            </a:extLst>
          </p:cNvPr>
          <p:cNvSpPr txBox="1"/>
          <p:nvPr/>
        </p:nvSpPr>
        <p:spPr>
          <a:xfrm>
            <a:off x="3940497" y="1800953"/>
            <a:ext cx="4486104" cy="1015663"/>
          </a:xfrm>
          <a:prstGeom prst="rect">
            <a:avLst/>
          </a:prstGeom>
          <a:noFill/>
        </p:spPr>
        <p:txBody>
          <a:bodyPr wrap="square">
            <a:spAutoFit/>
          </a:bodyPr>
          <a:lstStyle/>
          <a:p>
            <a:r>
              <a:rPr lang="en-IN" sz="6000" b="1" dirty="0">
                <a:solidFill>
                  <a:srgbClr val="000000">
                    <a:lumMod val="65000"/>
                    <a:lumOff val="35000"/>
                  </a:srgbClr>
                </a:solidFill>
                <a:latin typeface="Comic Sans MS" panose="030F0702030302020204" pitchFamily="66" charset="0"/>
                <a:cs typeface="Poppins"/>
                <a:sym typeface="Poppins"/>
              </a:rPr>
              <a:t>T</a:t>
            </a:r>
            <a:r>
              <a:rPr kumimoji="0" lang="en-IN" sz="6000" b="1" i="0" u="none" strike="noStrike" kern="0" cap="none" spc="0" normalizeH="0" baseline="0" noProof="0" dirty="0">
                <a:ln>
                  <a:noFill/>
                </a:ln>
                <a:solidFill>
                  <a:srgbClr val="000000">
                    <a:lumMod val="65000"/>
                    <a:lumOff val="35000"/>
                  </a:srgbClr>
                </a:solidFill>
                <a:effectLst/>
                <a:uLnTx/>
                <a:uFillTx/>
                <a:latin typeface="Comic Sans MS" panose="030F0702030302020204" pitchFamily="66" charset="0"/>
                <a:cs typeface="Poppins"/>
                <a:sym typeface="Poppins"/>
              </a:rPr>
              <a:t>hank You</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1402</TotalTime>
  <Words>2797</Words>
  <Application>Microsoft Office PowerPoint</Application>
  <PresentationFormat>Widescreen</PresentationFormat>
  <Paragraphs>285</Paragraphs>
  <Slides>37</Slides>
  <Notes>37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37</vt:i4>
      </vt:variant>
    </vt:vector>
  </HeadingPairs>
  <TitlesOfParts>
    <vt:vector size="45" baseType="lpstr">
      <vt:lpstr>Wingdings</vt:lpstr>
      <vt:lpstr>Arial</vt:lpstr>
      <vt:lpstr>Calibri</vt:lpstr>
      <vt:lpstr>Source Sans Pro</vt:lpstr>
      <vt:lpstr>Poppins</vt:lpstr>
      <vt:lpstr>Comic Sans MS</vt:lpstr>
      <vt:lpstr>1_Office Theme</vt:lpstr>
      <vt:lpstr>1_Office Theme</vt:lpstr>
      <vt:lpstr>PowerPoint Presentation</vt:lpstr>
      <vt:lpstr>Agenda</vt:lpstr>
      <vt:lpstr> </vt:lpstr>
      <vt:lpstr>PowerPoint Presentation</vt:lpstr>
      <vt:lpstr> </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 </vt:lpstr>
      <vt:lpstr>Page 1 –Overview</vt:lpstr>
      <vt:lpstr>Page 2 – Fee Analyst</vt:lpstr>
      <vt:lpstr>Page 3 -  Customer Behavior &amp; Multi-Usage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 Sadhukhan</dc:creator>
  <cp:lastModifiedBy>CU NGOC THANH TRUC</cp:lastModifiedBy>
  <cp:revision>70</cp:revision>
  <dcterms:created xsi:type="dcterms:W3CDTF">2022-09-23T13:48:30Z</dcterms:created>
  <dcterms:modified xsi:type="dcterms:W3CDTF">2026-07-09T02:22:27Z</dcterms:modified>
</cp:coreProperties>
</file>